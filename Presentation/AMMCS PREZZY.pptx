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41" d="100"/>
          <a:sy n="141" d="100"/>
        </p:scale>
        <p:origin x="132" y="3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BE6A68-F3BE-44EB-8578-F45104CD8B87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599D7-501F-4F94-B444-6C5FB4DEA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642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Down-weighting rather than discarding isn't a new idea — it's the standard result in robust estimation.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B599D7-501F-4F94-B444-6C5FB4DEA5E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282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FAC40-E47B-970F-607E-EC8E5AEB8C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301384-6422-6045-5E92-77F1828F20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3342E-6C70-57A0-8DCB-32F278E45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4316B-64AA-40B5-9952-441143FFA22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66DF1-A6A0-B316-5315-43AD0FBF8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24F02-1692-F113-E6AC-8A68C14E9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00C4F-2766-4FD1-8E55-71B308091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92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C3900-846E-CE09-A2DD-0E7127801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AA02F-7287-AE5B-C8E0-ACCE41CE8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F5BF5-A963-2CA4-4A47-31648CFD2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4316B-64AA-40B5-9952-441143FFA22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E131F-47CD-7431-742F-35EDCC54F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24700-B3E1-C959-BC24-F2DFC77AB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00C4F-2766-4FD1-8E55-71B308091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830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BAC40-2AC1-6683-7948-CA7E690E4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90723-D3FB-E140-FA58-365BC2CFB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9FDCA-1349-94B4-5A39-CA55C1F04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4316B-64AA-40B5-9952-441143FFA22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B1A7D-0338-D3E6-4D44-DE75FAC5D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08B5D-4795-E70A-6976-285DB1568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00C4F-2766-4FD1-8E55-71B308091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145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06E54-B67C-29F8-9A1D-7B2095949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A89DD-B7DA-1164-B567-AE751F91D7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A49355-179D-0258-941C-F95FDBCE4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25879F-092A-A3E0-B086-74DAA931C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4316B-64AA-40B5-9952-441143FFA22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F45397-F235-C655-4C9E-D1C958EDC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D1A187-B6D6-D22D-E410-C2A902E35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00C4F-2766-4FD1-8E55-71B308091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257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8CDD7-4A40-43BD-1C51-0687BA9DC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A7D9F0-DE4F-3860-AB2D-5D4081863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E49A55-7B17-1263-9344-4717263724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BE2CE8-6A0E-BCEB-6ED0-74A282E793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37F4F5-271D-205A-774F-53C821BCC1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1E28A5-8C04-417E-D14F-4FB022F1D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4316B-64AA-40B5-9952-441143FFA22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D6F5C4-C3A4-79D1-83CC-253D3B379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DE5C55-4048-A4B0-20D0-8273F1738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00C4F-2766-4FD1-8E55-71B308091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804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0F43F-93E5-36E8-407F-EB0E0A148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FC9F9F-8EB1-2D20-8653-BB56CCFE5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4316B-64AA-40B5-9952-441143FFA22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8A221A-D93B-0A0A-6E83-98B67B346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DEFDF0-BFA3-68D1-8133-E113ED1CC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00C4F-2766-4FD1-8E55-71B308091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472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65CCA9-1278-24F7-5F33-1AAD2D7B1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4316B-64AA-40B5-9952-441143FFA22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733EF5-5EBF-D29D-811C-9A5AC0156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6BF6F-7576-654F-1F42-6ED81F3D2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00C4F-2766-4FD1-8E55-71B308091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392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2C6A6-47A8-0CEA-5DE0-AB7F36362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3F0AF-35C1-4F56-9572-45B516DFE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E54864-EC1D-451B-8CFE-842C6416E1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9BC420-5D20-BBBB-85C2-A827178C5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4316B-64AA-40B5-9952-441143FFA22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FED44-5740-575F-D18F-71E0EE0D0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C285A-6B8D-0CDF-BFA2-9F867DE84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00C4F-2766-4FD1-8E55-71B308091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621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0B108-1466-4257-2BB2-622B83E9E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8B87B4-9BB2-F671-610C-3DCE0EBFDB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85F165-E8A9-2B7E-88B6-796CDEE226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D939D4-6846-F169-6500-6F1B0AD00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4316B-64AA-40B5-9952-441143FFA22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A071D3-5EF4-90E6-BABE-1205AF350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55E33-7F3D-DFAF-F714-EA936CF88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00C4F-2766-4FD1-8E55-71B308091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169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BDD0F-4AEC-7B37-1CB2-6346D1FBB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6ABFFB-4C4F-299E-6DDE-A33DF4B823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02B6B-7B99-1EF8-377E-EF2EB181F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4316B-64AA-40B5-9952-441143FFA22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9BF91-10FC-40C3-88FB-17D019F4B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6B0A7-51F1-A442-0D19-2DEBBE913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00C4F-2766-4FD1-8E55-71B308091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014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D94B22-B6CB-FF09-3801-9BF7ED239A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F26FF3-B76E-5BB9-885E-9619EC2AA1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23F20-0BAB-9B28-C30E-C0E3CADD4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4316B-64AA-40B5-9952-441143FFA22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69032-2378-7F20-3C87-3DA34D427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1516B-684D-E14C-C16E-6FF40993D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00C4F-2766-4FD1-8E55-71B308091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631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D73086-8932-D7A3-D98B-836D449B7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13E0C2-88AC-BABF-8F34-45D71BDA6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55E25-7B22-5A8F-9FAE-9E396BB89E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84316B-64AA-40B5-9952-441143FFA22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4229E-3231-E1DB-DDD3-C5BB891FD2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14D990-3FBE-EC88-F297-78DFCAEE6F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100C4F-2766-4FD1-8E55-71B308091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436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A53F4-613B-389F-B9EE-5770623010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Towards Validity-Weighted Attenuation of Affective Noise in Student Evaluations of Teaching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385950-81DC-4B17-C6DA-D1E8708B8A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 auditable ABSA framework that adjusts SET ratings by down-weighting construct-irrelevant emotion. </a:t>
            </a:r>
          </a:p>
          <a:p>
            <a:r>
              <a:rPr lang="en-US" dirty="0"/>
              <a:t>17,121 </a:t>
            </a:r>
            <a:r>
              <a:rPr lang="en-US" dirty="0" err="1"/>
              <a:t>RateMyProfessors</a:t>
            </a:r>
            <a:r>
              <a:rPr lang="en-US" dirty="0"/>
              <a:t> Reviews</a:t>
            </a:r>
          </a:p>
        </p:txBody>
      </p:sp>
    </p:spTree>
    <p:extLst>
      <p:ext uri="{BB962C8B-B14F-4D97-AF65-F5344CB8AC3E}">
        <p14:creationId xmlns:p14="http://schemas.microsoft.com/office/powerpoint/2010/main" val="2079677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8F5D8A-628A-0D0A-717B-1457559A61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2916" y="643466"/>
            <a:ext cx="834616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646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47615-2C05-8C10-6FFF-48305C738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23CC9-7D54-8E1F-0215-567C19BA6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8D572E-0788-BEA6-C515-823643A88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387" y="1585351"/>
            <a:ext cx="9144000" cy="278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075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62515-B95F-B4AF-6887-5872E5ADC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6A415-A37A-EC19-6C83-76047ED44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39C0D5-6731-49AE-BAF7-70C753522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440" y="1519299"/>
            <a:ext cx="9144000" cy="343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152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99204-E5F0-7109-2C42-D2504B8A0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4BCAF-3437-4732-91B7-F5C8C49F2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3B5207-165D-2714-2EA1-2BFF84CED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627" y="1690688"/>
            <a:ext cx="9144000" cy="3422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794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8E33-970A-58D3-9A9D-CC0BBA389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522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What are we actually measuring?</a:t>
            </a:r>
          </a:p>
        </p:txBody>
      </p:sp>
    </p:spTree>
    <p:extLst>
      <p:ext uri="{BB962C8B-B14F-4D97-AF65-F5344CB8AC3E}">
        <p14:creationId xmlns:p14="http://schemas.microsoft.com/office/powerpoint/2010/main" val="277455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37F5B-58A0-B190-7559-3B78D0896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F1969-F869-DDD2-B218-A8D0AC583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Scores averaged across an ill-defined assortment of items offer no basis for knowing what is being measured.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kern="0" spc="54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Marsh &amp; Roche — American Psychologist, 1997 · p. 1187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EEC3CE-B47C-81B1-7975-C1EC271A0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0640" y="1639619"/>
            <a:ext cx="3134360" cy="9544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B8C40B-E1B5-6B24-48F8-1A241F8B3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6040" y="2671850"/>
            <a:ext cx="3083560" cy="11575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C24DD8-81CE-A971-27D3-ED1AA6A0AE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0640" y="3907157"/>
            <a:ext cx="3134360" cy="117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881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B333C-A31F-2E0C-4504-19C2BF726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22B93-B536-C0FF-9882-F91992883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Wongsurawat</a:t>
            </a:r>
            <a:r>
              <a:rPr lang="en-US" dirty="0"/>
              <a:t> (2011) — "white noise": pedagogically irrelevant content is a source of measurement error; low-correlation comments should be discounted</a:t>
            </a:r>
          </a:p>
        </p:txBody>
      </p:sp>
    </p:spTree>
    <p:extLst>
      <p:ext uri="{BB962C8B-B14F-4D97-AF65-F5344CB8AC3E}">
        <p14:creationId xmlns:p14="http://schemas.microsoft.com/office/powerpoint/2010/main" val="110804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FB28B-4260-A602-557C-9F9C0282E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692AB-26D6-636C-6210-2CF44E9CD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Schiekirka</a:t>
            </a:r>
            <a:r>
              <a:rPr lang="en-US" dirty="0"/>
              <a:t> &amp; Raupach (2015) — student characteristics, performance level and evaluation process act as confounders on ratings</a:t>
            </a:r>
          </a:p>
        </p:txBody>
      </p:sp>
    </p:spTree>
    <p:extLst>
      <p:ext uri="{BB962C8B-B14F-4D97-AF65-F5344CB8AC3E}">
        <p14:creationId xmlns:p14="http://schemas.microsoft.com/office/powerpoint/2010/main" val="2680619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0BF84-1F3D-0D0C-5E55-9D2807AD4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1EDB2-1AE4-04BD-E314-E2A72CBCB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 et al. (2025) — emotional interaction with the instructor leads students to overlook actual teaching quality</a:t>
            </a:r>
          </a:p>
        </p:txBody>
      </p:sp>
    </p:spTree>
    <p:extLst>
      <p:ext uri="{BB962C8B-B14F-4D97-AF65-F5344CB8AC3E}">
        <p14:creationId xmlns:p14="http://schemas.microsoft.com/office/powerpoint/2010/main" val="958054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369BD-4F3A-20FA-FE7C-89794AC5B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B6C2D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Three literatures, one finding</a:t>
            </a:r>
            <a:br>
              <a:rPr lang="en-US" dirty="0">
                <a:solidFill>
                  <a:srgbClr val="B6C2D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7784A-5E0F-1FC7-F25D-702D5D152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B6C2D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 ratings respond to content that has nothing to do with teaching — irrelevant commentary, situational confounders, and emotional response to the instructor.</a:t>
            </a:r>
          </a:p>
          <a:p>
            <a:pPr marL="0" indent="0">
              <a:buNone/>
            </a:pPr>
            <a:r>
              <a:rPr lang="en-US" dirty="0">
                <a:solidFill>
                  <a:srgbClr val="B6C2D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These influences are systematic, not random — so averaging across students does not remove them.</a:t>
            </a:r>
          </a:p>
          <a:p>
            <a:pPr marL="0" indent="0">
              <a:buNone/>
            </a:pPr>
            <a:endParaRPr lang="en-US" dirty="0">
              <a:solidFill>
                <a:srgbClr val="B6C2D4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B6C2D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 </a:t>
            </a:r>
            <a:r>
              <a:rPr lang="en-US" dirty="0" err="1">
                <a:solidFill>
                  <a:srgbClr val="B6C2D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RateMyProfessors</a:t>
            </a:r>
            <a:r>
              <a:rPr lang="en-US" dirty="0">
                <a:solidFill>
                  <a:srgbClr val="B6C2D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nothing constrains what students write.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835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7EEE6-FEBD-24F9-E9AC-C35FC3914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Solutions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5C0EBB5-646C-91F8-0675-24B695F386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7418382"/>
              </p:ext>
            </p:extLst>
          </p:nvPr>
        </p:nvGraphicFramePr>
        <p:xfrm>
          <a:off x="838200" y="1825625"/>
          <a:ext cx="10515597" cy="283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79480063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43378885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9746920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Constrain the Instrument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Discard bad reviews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Down-weight by content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1569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Narrow, targeted 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Filter “low quality” comments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Keep every review, but reduce the influence of irrelevant content.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3083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Removes noise by 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Removes noise by exclusion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Attenuates noise, while aiming to preserve signal.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0530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Cost: Loses the expressiveness that makes open ended feedback worth collecting; can’t be applied to existing data.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Cost: Discards signal along with noise. Who decides  what’s “bad”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Bounded, auditable, contextual to each review.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9973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5984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60EAB-CEAF-E449-7014-F10B116AE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Down-weighting is the principled choice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BDF59-E640-0FD3-8186-450ABB8EB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Huber (1964) — robust estimation: bounded-influence weighting yields more stable, less biased estimates than deletion. Discarding an observation is just a weight of 0 — the crudest possible choice.</a:t>
            </a:r>
          </a:p>
          <a:p>
            <a:pPr marL="0" indent="0">
              <a:buNone/>
            </a:pPr>
            <a:r>
              <a:rPr lang="en-US" dirty="0"/>
              <a:t>Cronbach (1951) — measurement quality improves by reducing error variance, not by removing observations.</a:t>
            </a:r>
          </a:p>
          <a:p>
            <a:pPr marL="0" indent="0">
              <a:buNone/>
            </a:pPr>
            <a:r>
              <a:rPr lang="en-US" dirty="0"/>
              <a:t>Marsh &amp; Roche (1997) — corrections that ignore valid variance risk "throwing the validity baby out with the bias bathwater."</a:t>
            </a:r>
          </a:p>
        </p:txBody>
      </p:sp>
    </p:spTree>
    <p:extLst>
      <p:ext uri="{BB962C8B-B14F-4D97-AF65-F5344CB8AC3E}">
        <p14:creationId xmlns:p14="http://schemas.microsoft.com/office/powerpoint/2010/main" val="3375453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90041-7A54-1A25-B816-877FC16E7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corpus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AEA7E-D466-3717-A99B-848004332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040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17,121 </a:t>
            </a:r>
            <a:r>
              <a:rPr lang="en-US" dirty="0" err="1"/>
              <a:t>RateMyProfessors</a:t>
            </a:r>
            <a:r>
              <a:rPr lang="en-US" dirty="0"/>
              <a:t> reviews</a:t>
            </a:r>
          </a:p>
          <a:p>
            <a:r>
              <a:rPr lang="en-US" dirty="0"/>
              <a:t>1,029 professors · open-source dataset (He, 2020) · rating 1–5 + free text</a:t>
            </a:r>
          </a:p>
          <a:p>
            <a:r>
              <a:rPr lang="en-US" dirty="0"/>
              <a:t>Mean review length 40.1 words (SD 20.3) — short, informal, unstructured</a:t>
            </a:r>
          </a:p>
          <a:p>
            <a:r>
              <a:rPr lang="en-US" dirty="0"/>
              <a:t>Ratings are negatively skewed: 5-star reviews dominate</a:t>
            </a:r>
          </a:p>
          <a:p>
            <a:r>
              <a:rPr lang="en-US" dirty="0"/>
              <a:t>RMP prohibits scraping; permission was requested and not granted. No data was collected directly from the site.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F21547-EDFE-55D9-1105-16F5FC8388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7404" y="821266"/>
            <a:ext cx="4346223" cy="26077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C1CC3C-E355-B790-01FA-1BAE3BF51E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7022" y="3885141"/>
            <a:ext cx="4327563" cy="2291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0916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A5CF2-0F44-FA0C-054C-E936D8536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56931-B0F0-2F94-7D92-73E2D6E4C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RQ1 — How does emotional content in pedagogical comments contribute to SET ratings?</a:t>
            </a:r>
          </a:p>
          <a:p>
            <a:r>
              <a:rPr lang="en-US" dirty="0"/>
              <a:t>RQ2 — To what extent does emotional content in pedagogically irrelevant comments contribute to SET ratings?</a:t>
            </a:r>
          </a:p>
          <a:p>
            <a:r>
              <a:rPr lang="en-US" dirty="0"/>
              <a:t>RQ3 — Can emotional attenuation of irrelevant comments mitigate affective noise while preserving pedagogical signal?</a:t>
            </a:r>
          </a:p>
        </p:txBody>
      </p:sp>
    </p:spTree>
    <p:extLst>
      <p:ext uri="{BB962C8B-B14F-4D97-AF65-F5344CB8AC3E}">
        <p14:creationId xmlns:p14="http://schemas.microsoft.com/office/powerpoint/2010/main" val="1307306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492</Words>
  <Application>Microsoft Office PowerPoint</Application>
  <PresentationFormat>Widescreen</PresentationFormat>
  <Paragraphs>44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Carlito</vt:lpstr>
      <vt:lpstr>Office Theme</vt:lpstr>
      <vt:lpstr>Towards Validity-Weighted Attenuation of Affective Noise in Student Evaluations of Teaching</vt:lpstr>
      <vt:lpstr>PowerPoint Presentation</vt:lpstr>
      <vt:lpstr>PowerPoint Presentation</vt:lpstr>
      <vt:lpstr>PowerPoint Presentation</vt:lpstr>
      <vt:lpstr>PowerPoint Presentation</vt:lpstr>
      <vt:lpstr>What are we actually measuring?</vt:lpstr>
      <vt:lpstr>PowerPoint Presentation</vt:lpstr>
      <vt:lpstr>PowerPoint Presentation</vt:lpstr>
      <vt:lpstr>PowerPoint Presentation</vt:lpstr>
      <vt:lpstr>PowerPoint Presentation</vt:lpstr>
      <vt:lpstr>Three literatures, one finding </vt:lpstr>
      <vt:lpstr>Possible Solutions</vt:lpstr>
      <vt:lpstr>Down-weighting is the principled choice</vt:lpstr>
      <vt:lpstr>The corpus</vt:lpstr>
      <vt:lpstr>Research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Bassil Obeidi</dc:creator>
  <cp:lastModifiedBy>Bassil Obeidi</cp:lastModifiedBy>
  <cp:revision>1</cp:revision>
  <dcterms:created xsi:type="dcterms:W3CDTF">2026-08-11T03:51:58Z</dcterms:created>
  <dcterms:modified xsi:type="dcterms:W3CDTF">2026-08-11T04:47:51Z</dcterms:modified>
</cp:coreProperties>
</file>