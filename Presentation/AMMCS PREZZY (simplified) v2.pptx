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69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9" r:id="rId24"/>
    <p:sldId id="282" r:id="rId25"/>
    <p:sldId id="278" r:id="rId26"/>
    <p:sldId id="280" r:id="rId27"/>
    <p:sldId id="281" r:id="rId28"/>
    <p:sldId id="283" r:id="rId29"/>
    <p:sldId id="284" r:id="rId30"/>
    <p:sldId id="307" r:id="rId31"/>
    <p:sldId id="285" r:id="rId32"/>
    <p:sldId id="286" r:id="rId33"/>
    <p:sldId id="293" r:id="rId34"/>
    <p:sldId id="298" r:id="rId35"/>
    <p:sldId id="302" r:id="rId36"/>
    <p:sldId id="308" r:id="rId37"/>
    <p:sldId id="287" r:id="rId38"/>
    <p:sldId id="288" r:id="rId39"/>
    <p:sldId id="289" r:id="rId40"/>
    <p:sldId id="292" r:id="rId41"/>
    <p:sldId id="295" r:id="rId42"/>
    <p:sldId id="296" r:id="rId43"/>
    <p:sldId id="299" r:id="rId44"/>
    <p:sldId id="290" r:id="rId45"/>
    <p:sldId id="291" r:id="rId46"/>
    <p:sldId id="303" r:id="rId47"/>
    <p:sldId id="297" r:id="rId48"/>
    <p:sldId id="300" r:id="rId49"/>
    <p:sldId id="301" r:id="rId50"/>
    <p:sldId id="312" r:id="rId51"/>
    <p:sldId id="309" r:id="rId52"/>
    <p:sldId id="310" r:id="rId53"/>
    <p:sldId id="311" r:id="rId54"/>
    <p:sldId id="313" r:id="rId55"/>
    <p:sldId id="314" r:id="rId56"/>
    <p:sldId id="304" r:id="rId57"/>
    <p:sldId id="315" r:id="rId58"/>
    <p:sldId id="316" r:id="rId59"/>
    <p:sldId id="305" r:id="rId60"/>
    <p:sldId id="317" r:id="rId61"/>
    <p:sldId id="318" r:id="rId62"/>
    <p:sldId id="319" r:id="rId63"/>
    <p:sldId id="320" r:id="rId64"/>
    <p:sldId id="321" r:id="rId65"/>
    <p:sldId id="306" r:id="rId6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3791" autoAdjust="0"/>
  </p:normalViewPr>
  <p:slideViewPr>
    <p:cSldViewPr snapToGrid="0" showGuides="1">
      <p:cViewPr varScale="1">
        <p:scale>
          <a:sx n="32" d="100"/>
          <a:sy n="32" d="100"/>
        </p:scale>
        <p:origin x="1603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BE6A68-F3BE-44EB-8578-F45104CD8B87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B599D7-501F-4F94-B444-6C5FB4DEA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642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Title slide.</a:t>
            </a:r>
          </a:p>
          <a:p>
            <a:endParaRPr/>
          </a:p>
          <a:p>
            <a:r>
              <a:t>Full framing: an auditable aspect-based sentiment analysis framework that adjusts SET</a:t>
            </a:r>
          </a:p>
          <a:p>
            <a:r>
              <a:t>ratings by down-weighting construct-irrelevant emotion. Built and evaluated on 17,121</a:t>
            </a:r>
          </a:p>
          <a:p>
            <a:r>
              <a:t>RateMyProfessors reviews covering 1,029 professors.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problem, as a mock-up.</a:t>
            </a:r>
          </a:p>
          <a:p>
            <a:endParaRPr/>
          </a:p>
          <a:p>
            <a:r>
              <a:t>A RateMyProfessors profile with the overall score replaced by a question mark — "Overall</a:t>
            </a:r>
          </a:p>
          <a:p>
            <a:r>
              <a:t>Ratings Based on a Biased System" — and a rating distribution showing the U-shape that</a:t>
            </a:r>
          </a:p>
          <a:p>
            <a:r>
              <a:t>informal SET produces: a wall of 5s, a wall of 1s, and comparatively little in between.</a:t>
            </a:r>
          </a:p>
          <a:p>
            <a:r>
              <a:t>The mock statistics underneath ("100% chance of it staying here for a long time",</a:t>
            </a:r>
          </a:p>
          <a:p>
            <a:r>
              <a:t>"1.0 degree of fairness") are the joke, but the serious point is the question mark.</a:t>
            </a:r>
          </a:p>
          <a:p>
            <a:endParaRPr/>
          </a:p>
          <a:p>
            <a:r>
              <a:t>That number is what students actually act on when choosing courses. We do not know what</a:t>
            </a:r>
          </a:p>
          <a:p>
            <a:r>
              <a:t>it measures. Everything in this talk is an attempt to make it mean something.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Real review #1 — Quality 3.0, Difficulty 5.0, October 2008.</a:t>
            </a:r>
          </a:p>
          <a:p>
            <a:endParaRPr/>
          </a:p>
          <a:p>
            <a:r>
              <a:t>"dude is huge and i mean huge and is a rude guy but he knows alot about politics"</a:t>
            </a:r>
          </a:p>
          <a:p>
            <a:endParaRPr/>
          </a:p>
          <a:p>
            <a:r>
              <a:t>Walk the audience through it clause by clause, because this review comes back later as the</a:t>
            </a:r>
          </a:p>
          <a:p>
            <a:r>
              <a:t>full worked example:</a:t>
            </a:r>
          </a:p>
          <a:p>
            <a:r>
              <a:t>  - "dude is huge" — off-topic, physical appearance</a:t>
            </a:r>
          </a:p>
          <a:p>
            <a:r>
              <a:t>  - "i mean huge" — off-topic, emphasis on the same</a:t>
            </a:r>
          </a:p>
          <a:p>
            <a:r>
              <a:t>  - "is a rude guy" — off-topic, and emotionally charged (anger 0.567)</a:t>
            </a:r>
          </a:p>
          <a:p>
            <a:r>
              <a:t>  - "he knows alot about politics" — the only pedagogical clause in the review</a:t>
            </a:r>
          </a:p>
          <a:p>
            <a:endParaRPr/>
          </a:p>
          <a:p>
            <a:r>
              <a:t>Three of four clauses have nothing to do with teaching, and the one that does is positive.</a:t>
            </a:r>
          </a:p>
          <a:p>
            <a:r>
              <a:t>Yet the rating is a 3.0. That gap is the entire thesis in one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Real review #2 — Quality 2.5, Difficulty 4.0, August 2011.</a:t>
            </a:r>
          </a:p>
          <a:p>
            <a:endParaRPr dirty="0"/>
          </a:p>
          <a:p>
            <a:r>
              <a:rPr dirty="0"/>
              <a:t>A long complaint about the instructor's voice, compared to Mrs. Doubtfire and Julia Child,</a:t>
            </a:r>
          </a:p>
          <a:p>
            <a:r>
              <a:rPr dirty="0"/>
              <a:t>with "makes it hard to focus and i think she does it on purpose."</a:t>
            </a:r>
          </a:p>
          <a:p>
            <a:endParaRPr dirty="0"/>
          </a:p>
          <a:p>
            <a:r>
              <a:rPr dirty="0"/>
              <a:t>Two things worth naming:</a:t>
            </a:r>
          </a:p>
          <a:p>
            <a:endParaRPr dirty="0"/>
          </a:p>
          <a:p>
            <a:r>
              <a:rPr dirty="0"/>
              <a:t>First, this is almost entirely construct-irrelevant. Vocal quality is not instruction.</a:t>
            </a:r>
          </a:p>
          <a:p>
            <a:r>
              <a:rPr dirty="0"/>
              <a:t>Yet the student presents it as decisive — "you need the facts, don't take her."</a:t>
            </a:r>
          </a:p>
          <a:p>
            <a:endParaRPr dirty="0"/>
          </a:p>
          <a:p>
            <a:r>
              <a:rPr dirty="0"/>
              <a:t>Second, note the last line: "I even got a B and </a:t>
            </a:r>
            <a:r>
              <a:rPr dirty="0" err="1"/>
              <a:t>i'm</a:t>
            </a:r>
            <a:r>
              <a:rPr dirty="0"/>
              <a:t> </a:t>
            </a:r>
            <a:r>
              <a:rPr dirty="0" err="1"/>
              <a:t>sayin</a:t>
            </a:r>
            <a:r>
              <a:rPr dirty="0"/>
              <a:t> this!" The student</a:t>
            </a:r>
          </a:p>
          <a:p>
            <a:r>
              <a:rPr dirty="0"/>
              <a:t>pre-emptively defends against the grade-retaliation explanation, which tells you they know</a:t>
            </a:r>
          </a:p>
          <a:p>
            <a:r>
              <a:rPr dirty="0"/>
              <a:t>it is the obvious objection. Their own report is that performance was fine and the rating</a:t>
            </a:r>
          </a:p>
          <a:p>
            <a:r>
              <a:rPr dirty="0"/>
              <a:t>is still 2.5.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Real review #3 — Quality 5.0, Difficulty 3.0, August 2004.</a:t>
            </a:r>
          </a:p>
          <a:p>
            <a:endParaRPr dirty="0"/>
          </a:p>
          <a:p>
            <a:r>
              <a:rPr dirty="0"/>
              <a:t>"</a:t>
            </a:r>
            <a:r>
              <a:rPr dirty="0" err="1"/>
              <a:t>BIg</a:t>
            </a:r>
            <a:r>
              <a:rPr dirty="0"/>
              <a:t> up to the </a:t>
            </a:r>
            <a:r>
              <a:rPr dirty="0" err="1"/>
              <a:t>selektah</a:t>
            </a:r>
            <a:r>
              <a:rPr dirty="0"/>
              <a:t> massive inside! Rinse out Prof. [name] </a:t>
            </a:r>
            <a:r>
              <a:rPr dirty="0" err="1"/>
              <a:t>propa</a:t>
            </a:r>
            <a:r>
              <a:rPr dirty="0"/>
              <a:t>...gunshots! </a:t>
            </a:r>
            <a:r>
              <a:rPr dirty="0" err="1"/>
              <a:t>boh</a:t>
            </a:r>
            <a:r>
              <a:rPr dirty="0"/>
              <a:t>! </a:t>
            </a:r>
            <a:r>
              <a:rPr dirty="0" err="1"/>
              <a:t>boh</a:t>
            </a:r>
            <a:r>
              <a:rPr dirty="0"/>
              <a:t>!</a:t>
            </a:r>
          </a:p>
          <a:p>
            <a:r>
              <a:rPr dirty="0"/>
              <a:t>maximum </a:t>
            </a:r>
            <a:r>
              <a:rPr dirty="0" err="1"/>
              <a:t>Reeespect</a:t>
            </a:r>
            <a:r>
              <a:rPr dirty="0"/>
              <a:t>...."</a:t>
            </a:r>
          </a:p>
          <a:p>
            <a:endParaRPr dirty="0"/>
          </a:p>
          <a:p>
            <a:r>
              <a:rPr dirty="0"/>
              <a:t>This one is the counterpoint, and it is why deletion-based approaches fail. There is no</a:t>
            </a:r>
          </a:p>
          <a:p>
            <a:r>
              <a:rPr dirty="0"/>
              <a:t>pedagogical content here at all — it is pure enthusiasm in dancehall idiom. A filter would</a:t>
            </a:r>
          </a:p>
          <a:p>
            <a:r>
              <a:rPr dirty="0"/>
              <a:t>throw it out.</a:t>
            </a:r>
          </a:p>
          <a:p>
            <a:endParaRPr dirty="0"/>
          </a:p>
          <a:p>
            <a:r>
              <a:rPr dirty="0"/>
              <a:t>But it is not meaningless. It carries genuine positive affect toward the instructor. The</a:t>
            </a:r>
          </a:p>
          <a:p>
            <a:r>
              <a:rPr dirty="0"/>
              <a:t>student is communicating something real; it just is not information about teaching.</a:t>
            </a:r>
          </a:p>
          <a:p>
            <a:endParaRPr dirty="0"/>
          </a:p>
          <a:p>
            <a:r>
              <a:rPr dirty="0"/>
              <a:t>Down-weighting handles this correctly: keep the review, keep the student's voice, reduce</a:t>
            </a:r>
          </a:p>
          <a:p>
            <a:r>
              <a:rPr dirty="0"/>
              <a:t>the weight of the off-topic emotion. Deleting it discards a real person's real response.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opener — the validity question.</a:t>
            </a:r>
          </a:p>
          <a:p>
            <a:endParaRPr/>
          </a:p>
          <a:p>
            <a:r>
              <a:t>The whole talk hangs off this: a SET score is a number, but it is not obvious what</a:t>
            </a:r>
          </a:p>
          <a:p>
            <a:r>
              <a:t>construct that number measures. Everything that follows is an attempt to answer it</a:t>
            </a:r>
          </a:p>
          <a:p>
            <a:r>
              <a:t>computationally.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Marsh &amp; Roche, American Psychologist, 1997, p. 1187.</a:t>
            </a:r>
          </a:p>
          <a:p>
            <a:endParaRPr/>
          </a:p>
          <a:p>
            <a:r>
              <a:t>The canonical statement of the problem. If the items being averaged are not a coherent</a:t>
            </a:r>
          </a:p>
          <a:p>
            <a:r>
              <a:t>set, the average has no defined referent — you cannot say what the score measures. This</a:t>
            </a:r>
          </a:p>
          <a:p>
            <a:r>
              <a:t>applies with more force to RMP than to formal instruments, because RMP imposes no item</a:t>
            </a:r>
          </a:p>
          <a:p>
            <a:r>
              <a:t>structure at all.</a:t>
            </a:r>
          </a:p>
          <a:p>
            <a:endParaRPr/>
          </a:p>
          <a:p>
            <a:r>
              <a:t>The three reviews shown alongside are the ones just walked through — physical appearance</a:t>
            </a:r>
          </a:p>
          <a:p>
            <a:r>
              <a:t>at 3.0, vocal quality at 2.5, dancehall enthusiasm at 5.0. Marsh &amp; Roche were writing</a:t>
            </a:r>
          </a:p>
          <a:p>
            <a:r>
              <a:t>about formal instruments with defined items. These are what the same critique looks like</a:t>
            </a:r>
          </a:p>
          <a:p>
            <a:r>
              <a:t>with no items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Wongsurawat (2011).</a:t>
            </a:r>
          </a:p>
          <a:p>
            <a:endParaRPr/>
          </a:p>
          <a:p>
            <a:r>
              <a:t>Coins the "white noise" framing: pedagogically irrelevant content in student comments is</a:t>
            </a:r>
          </a:p>
          <a:p>
            <a:r>
              <a:t>a source of measurement error, and comments that correlate poorly with teaching quality</a:t>
            </a:r>
          </a:p>
          <a:p>
            <a:r>
              <a:t>should be discounted. Note that the proposed remedy is discounting — this is the direct</a:t>
            </a:r>
          </a:p>
          <a:p>
            <a:r>
              <a:t>ancestor of the down-weighting approach taken here, though Wongsurawat does not build a</a:t>
            </a:r>
          </a:p>
          <a:p>
            <a:r>
              <a:t>mechanism for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Schiekirka &amp; Raupach (2015).</a:t>
            </a:r>
          </a:p>
          <a:p>
            <a:endParaRPr/>
          </a:p>
          <a:p>
            <a:r>
              <a:t>A systematic review of confounders in medical-education SET. Identifies three families:</a:t>
            </a:r>
          </a:p>
          <a:p>
            <a:r>
              <a:t>student characteristics, student performance level, and features of the evaluation</a:t>
            </a:r>
          </a:p>
          <a:p>
            <a:r>
              <a:t>process itself. Important because these are *systematic* confounders — they bias in a</a:t>
            </a:r>
          </a:p>
          <a:p>
            <a:r>
              <a:t>consistent direction, so they do not average out across respondents.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Li et al. (2025).</a:t>
            </a:r>
          </a:p>
          <a:p>
            <a:endParaRPr/>
          </a:p>
          <a:p>
            <a:r>
              <a:t>Qualitative work showing that students' emotional and relational response to an</a:t>
            </a:r>
          </a:p>
          <a:p>
            <a:r>
              <a:t>instructor leads them to overlook actual teaching quality when rating. This is the</a:t>
            </a:r>
          </a:p>
          <a:p>
            <a:r>
              <a:t>affective-noise mechanism specifically, and it is the one this framework targets.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Three independent literatures converge on one finding.</a:t>
            </a:r>
          </a:p>
          <a:p>
            <a:endParaRPr/>
          </a:p>
          <a:p>
            <a:r>
              <a:t>Student ratings respond to content that has nothing to do with teaching — irrelevant</a:t>
            </a:r>
          </a:p>
          <a:p>
            <a:r>
              <a:t>commentary (Wongsurawat), situational confounders (Schiekirka &amp; Raupach), and emotional</a:t>
            </a:r>
          </a:p>
          <a:p>
            <a:r>
              <a:t>response to the instructor (Li et al.).</a:t>
            </a:r>
          </a:p>
          <a:p>
            <a:endParaRPr/>
          </a:p>
          <a:p>
            <a:r>
              <a:t>The key point is the second line: these influences are systematic, not random. That</a:t>
            </a:r>
          </a:p>
          <a:p>
            <a:r>
              <a:t>matters because it means averaging across many students does not remove them. Random</a:t>
            </a:r>
          </a:p>
          <a:p>
            <a:r>
              <a:t>error shrinks with n; systematic bias does not. This is precisely why "just collect more</a:t>
            </a:r>
          </a:p>
          <a:p>
            <a:r>
              <a:t>reviews" is not a solution.</a:t>
            </a:r>
          </a:p>
          <a:p>
            <a:endParaRPr/>
          </a:p>
          <a:p>
            <a:r>
              <a:t>And on RateMyProfessors, nothing constrains what students write — no item structure, no</a:t>
            </a:r>
          </a:p>
          <a:p>
            <a:r>
              <a:t>moderation, no prompt. So the contamination ceiling is higher here than on any formal</a:t>
            </a:r>
          </a:p>
          <a:p>
            <a:r>
              <a:t>instrument.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Three families of response to the contamination problem.</a:t>
            </a:r>
          </a:p>
          <a:p>
            <a:endParaRPr dirty="0"/>
          </a:p>
          <a:p>
            <a:r>
              <a:rPr dirty="0"/>
              <a:t>1. Constrain the instrument — narrow, targeted items. Removes noise by construction.</a:t>
            </a:r>
          </a:p>
          <a:p>
            <a:r>
              <a:rPr dirty="0"/>
              <a:t>   Cost: loses the expressiveness that makes open-ended feedback worth collecting, and</a:t>
            </a:r>
          </a:p>
          <a:p>
            <a:r>
              <a:rPr dirty="0"/>
              <a:t>   cannot be applied retroactively to existing data.</a:t>
            </a:r>
          </a:p>
          <a:p>
            <a:endParaRPr dirty="0"/>
          </a:p>
          <a:p>
            <a:r>
              <a:rPr dirty="0"/>
              <a:t>2. Discard bad reviews — filter "low quality" comments. Removes noise by exclusion.</a:t>
            </a:r>
          </a:p>
          <a:p>
            <a:r>
              <a:rPr dirty="0"/>
              <a:t>   Cost: discards signal along with noise, and requires someone to decide what counts as</a:t>
            </a:r>
          </a:p>
          <a:p>
            <a:r>
              <a:rPr dirty="0"/>
              <a:t>   "bad" — an unaccountable judgment call.</a:t>
            </a:r>
          </a:p>
          <a:p>
            <a:endParaRPr dirty="0"/>
          </a:p>
          <a:p>
            <a:r>
              <a:rPr dirty="0"/>
              <a:t>3. Down-weight by content — keep every review, reduce the influence of irrelevant</a:t>
            </a:r>
          </a:p>
          <a:p>
            <a:r>
              <a:rPr dirty="0"/>
              <a:t>   content. Attenuates noise while aiming to preserve signal. Bounded, auditable, and</a:t>
            </a:r>
          </a:p>
          <a:p>
            <a:r>
              <a:rPr dirty="0"/>
              <a:t>   contextual to each individual review.</a:t>
            </a:r>
          </a:p>
          <a:p>
            <a:endParaRPr dirty="0"/>
          </a:p>
          <a:p>
            <a:r>
              <a:rPr dirty="0"/>
              <a:t>This talk takes option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B599D7-501F-4F94-B444-6C5FB4DEA5E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2829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Why down-weighting rather than deletion, in three citations.</a:t>
            </a:r>
          </a:p>
          <a:p>
            <a:endParaRPr dirty="0"/>
          </a:p>
          <a:p>
            <a:r>
              <a:rPr dirty="0"/>
              <a:t>Huber (1964), robust estimation: bounded-influence weighting yields more stable and less</a:t>
            </a:r>
          </a:p>
          <a:p>
            <a:r>
              <a:rPr dirty="0"/>
              <a:t>biased estimates than deletion. The framing to </a:t>
            </a:r>
            <a:r>
              <a:rPr dirty="0" err="1"/>
              <a:t>emphasise</a:t>
            </a:r>
            <a:r>
              <a:rPr dirty="0"/>
              <a:t> — discarding an observation is</a:t>
            </a:r>
          </a:p>
          <a:p>
            <a:r>
              <a:rPr dirty="0"/>
              <a:t>simply assigning it a weight of zero. It is the crudest possible point on a continuum we</a:t>
            </a:r>
          </a:p>
          <a:p>
            <a:r>
              <a:rPr dirty="0"/>
              <a:t>otherwise have full access to. Once you see deletion as a degenerate case of weighting,</a:t>
            </a:r>
          </a:p>
          <a:p>
            <a:r>
              <a:rPr dirty="0"/>
              <a:t>the choice to weight continuously is not exotic, it is the general case.</a:t>
            </a:r>
          </a:p>
          <a:p>
            <a:endParaRPr dirty="0"/>
          </a:p>
          <a:p>
            <a:r>
              <a:rPr dirty="0"/>
              <a:t>Cronbach (1951), classical reliability theory: measurement quality improves by reducing</a:t>
            </a:r>
          </a:p>
          <a:p>
            <a:r>
              <a:rPr dirty="0"/>
              <a:t>error variance, not by removing observations.</a:t>
            </a:r>
          </a:p>
          <a:p>
            <a:endParaRPr dirty="0"/>
          </a:p>
          <a:p>
            <a:r>
              <a:rPr dirty="0"/>
              <a:t>Marsh &amp; Roche (1997): corrections that ignore valid variance risk "throwing the validity</a:t>
            </a:r>
          </a:p>
          <a:p>
            <a:r>
              <a:rPr dirty="0"/>
              <a:t>baby out with the bias bathwater." This is the conservative-correction principle that the</a:t>
            </a:r>
          </a:p>
          <a:p>
            <a:r>
              <a:rPr dirty="0"/>
              <a:t>mean |Δ| of 0.207 later reflects.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corpus.</a:t>
            </a:r>
          </a:p>
          <a:p>
            <a:endParaRPr/>
          </a:p>
          <a:p>
            <a:r>
              <a:t>17,121 RateMyProfessors reviews across 1,029 professors, from the open-source dataset</a:t>
            </a:r>
          </a:p>
          <a:p>
            <a:r>
              <a:t>released by He (2020). Each record is a 1–5 rating plus free text.</a:t>
            </a:r>
          </a:p>
          <a:p>
            <a:endParaRPr/>
          </a:p>
          <a:p>
            <a:r>
              <a:t>Mean review length is 40.1 words (SD 20.3) — these are short, informal, and unstructured.</a:t>
            </a:r>
          </a:p>
          <a:p>
            <a:r>
              <a:t>That length matters downstream: short reviews give few clauses, which makes clause-level</a:t>
            </a:r>
          </a:p>
          <a:p>
            <a:r>
              <a:t>aggregation noisier and makes a single off-topic clause proportionally influential.</a:t>
            </a:r>
          </a:p>
          <a:p>
            <a:endParaRPr/>
          </a:p>
          <a:p>
            <a:r>
              <a:t>Ratings are negatively skewed, with 5-star reviews dominating. This biases the regression</a:t>
            </a:r>
          </a:p>
          <a:p>
            <a:r>
              <a:t>model toward the top of the scale and limits generalization at the low end — it comes</a:t>
            </a:r>
          </a:p>
          <a:p>
            <a:r>
              <a:t>back in Limitations.</a:t>
            </a:r>
          </a:p>
          <a:p>
            <a:endParaRPr/>
          </a:p>
          <a:p>
            <a:r>
              <a:t>Ethics point, worth stating explicitly: RMP prohibits scraping. Permission was requested</a:t>
            </a:r>
          </a:p>
          <a:p>
            <a:r>
              <a:t>and not granted. No data was collected directly from the site — everything here is from</a:t>
            </a:r>
          </a:p>
          <a:p>
            <a:r>
              <a:t>the previously published open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three research questions, in full:</a:t>
            </a:r>
          </a:p>
          <a:p>
            <a:endParaRPr/>
          </a:p>
          <a:p>
            <a:r>
              <a:t>RQ1 — How does emotional content in pedagogical comments contribute to SET ratings?</a:t>
            </a:r>
          </a:p>
          <a:p>
            <a:endParaRPr/>
          </a:p>
          <a:p>
            <a:r>
              <a:t>RQ2 — To what extent does emotional content in pedagogically irrelevant comments</a:t>
            </a:r>
          </a:p>
          <a:p>
            <a:r>
              <a:t>contribute to SET ratings?</a:t>
            </a:r>
          </a:p>
          <a:p>
            <a:endParaRPr/>
          </a:p>
          <a:p>
            <a:r>
              <a:t>RQ3 — Can emotional attenuation of irrelevant comments mitigate affective noise while</a:t>
            </a:r>
          </a:p>
          <a:p>
            <a:r>
              <a:t>preserving pedagogical signal?</a:t>
            </a:r>
          </a:p>
          <a:p>
            <a:endParaRPr/>
          </a:p>
          <a:p>
            <a:r>
              <a:t>RQ1 and RQ2 are descriptive — they establish that both signal and noise are present and</a:t>
            </a:r>
          </a:p>
          <a:p>
            <a:r>
              <a:t>measurable. RQ3 is the interventional one, and it is the actual contribution.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Pipeline stage 0 — data.</a:t>
            </a:r>
          </a:p>
          <a:p>
            <a:endParaRPr/>
          </a:p>
          <a:p>
            <a:r>
              <a:t>RateMyProfessor dataset → data cleaning → individual student reviews, each a numerical</a:t>
            </a:r>
          </a:p>
          <a:p>
            <a:r>
              <a:t>rating paired with free text.</a:t>
            </a:r>
          </a:p>
          <a:p>
            <a:endParaRPr/>
          </a:p>
          <a:p>
            <a:r>
              <a:t>The example review in the diagram is a good one to read out, because it is the normal</a:t>
            </a:r>
          </a:p>
          <a:p>
            <a:r>
              <a:t>case rather than an extreme: "[Instructor] knows his material and could make it very</a:t>
            </a:r>
          </a:p>
          <a:p>
            <a:r>
              <a:t>interesting. However there is no room for conversation...straight note-taking class. If</a:t>
            </a:r>
          </a:p>
          <a:p>
            <a:r>
              <a:t>you like to write this is the class for you. It's all essay and memorization! Good Luck!"</a:t>
            </a:r>
          </a:p>
          <a:p>
            <a:endParaRPr/>
          </a:p>
          <a:p>
            <a:r>
              <a:t>That is mixed, multi-topic, and mostly pedagogical — exactly the kind of review the</a:t>
            </a:r>
          </a:p>
          <a:p>
            <a:r>
              <a:t>framework should barely touch.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Pipeline stage 1 — Aspect-Term Categorization and the density metric.</a:t>
            </a:r>
          </a:p>
          <a:p>
            <a:endParaRPr/>
          </a:p>
          <a:p>
            <a:r>
              <a:t>Every clause is sorted into one of four buckets: Instructional Effectiveness, Fairness,</a:t>
            </a:r>
          </a:p>
          <a:p>
            <a:r>
              <a:t>Workload, or Miscellaneous. The diagram then splits the flow in two — Miscellaneous</a:t>
            </a:r>
          </a:p>
          <a:p>
            <a:r>
              <a:t>content on one path, pedagogical content on the other — and recombines them into a single</a:t>
            </a:r>
          </a:p>
          <a:p>
            <a:r>
              <a:t>scalar: the pedagogical content density metric, bounded 0 to 1.</a:t>
            </a:r>
          </a:p>
          <a:p>
            <a:endParaRPr/>
          </a:p>
          <a:p>
            <a:r>
              <a:t>The reason for the split is that the two paths get treated differently downstream. The</a:t>
            </a:r>
          </a:p>
          <a:p>
            <a:r>
              <a:t>pedagogical side passes through untouched. Only the Miscellaneous side gets attenuated.</a:t>
            </a:r>
          </a:p>
          <a:p>
            <a:endParaRPr/>
          </a:p>
          <a:p>
            <a:r>
              <a:t>Everything after this point depends on that categorization being roughly right, which is</a:t>
            </a:r>
          </a:p>
          <a:p>
            <a:r>
              <a:t>the cascade concern raised in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Pipeline stage 2 — the emotion model.</a:t>
            </a:r>
          </a:p>
          <a:p>
            <a:endParaRPr/>
          </a:p>
          <a:p>
            <a:r>
              <a:t>A multi-label RoBERTa GoEmotions model, pulled from Hugging Face. Multi-label matters:</a:t>
            </a:r>
          </a:p>
          <a:p>
            <a:r>
              <a:t>a clause can register admiration and annoyance simultaneously, which short informal</a:t>
            </a:r>
          </a:p>
          <a:p>
            <a:r>
              <a:t>reviews frequently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Pipeline stage 2 continued — emotions per topic, not per review.</a:t>
            </a:r>
          </a:p>
          <a:p>
            <a:endParaRPr/>
          </a:p>
          <a:p>
            <a:r>
              <a:t>This is the design decision that everything else rests on. Emotion is not extracted for</a:t>
            </a:r>
          </a:p>
          <a:p>
            <a:r>
              <a:t>the review as a whole; it is extracted separately for each topic within the review.</a:t>
            </a:r>
          </a:p>
          <a:p>
            <a:endParaRPr/>
          </a:p>
          <a:p>
            <a:r>
              <a:t>That is what makes the intervention possible. If you only had one sentiment score per</a:t>
            </a:r>
          </a:p>
          <a:p>
            <a:r>
              <a:t>review, there would be nothing to attenuate selectively — you could only dampen the whole</a:t>
            </a:r>
          </a:p>
          <a:p>
            <a:r>
              <a:t>thing. Because emotion is indexed by topic, we can reach in and down-weight the emotion</a:t>
            </a:r>
          </a:p>
          <a:p>
            <a:r>
              <a:t>attached to off-topic content while leaving pedagogical emotion completely untouched.</a:t>
            </a:r>
          </a:p>
          <a:p>
            <a:endParaRPr/>
          </a:p>
          <a:p>
            <a:r>
              <a:t>The counterfactual argument on the RQ3 Cont. slide is about exactly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Pipeline stage 3 — regression.</a:t>
            </a:r>
          </a:p>
          <a:p>
            <a:endParaRPr/>
          </a:p>
          <a:p>
            <a:r>
              <a:t>A CatBoost model is trained to predict the numerical rating from the topic-indexed</a:t>
            </a:r>
          </a:p>
          <a:p>
            <a:r>
              <a:t>emotion matrix. Four topics, each with its own emotion profile, mapping to a single star</a:t>
            </a:r>
          </a:p>
          <a:p>
            <a:r>
              <a:t>rating.</a:t>
            </a:r>
          </a:p>
          <a:p>
            <a:endParaRPr/>
          </a:p>
          <a:p>
            <a:r>
              <a:t>The model is not the contribution — it is the instrument. Its job is to give us a</a:t>
            </a:r>
          </a:p>
          <a:p>
            <a:r>
              <a:t>defensible estimate of how much each block of emotion contributed to the rating, so that</a:t>
            </a:r>
          </a:p>
          <a:p>
            <a:r>
              <a:t>we can remove a specific block and measure the difference.</a:t>
            </a:r>
          </a:p>
          <a:p>
            <a:endParaRPr/>
          </a:p>
          <a:p>
            <a:r>
              <a:t>That is also why interpretability at this stage matters more than raw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Pipeline stage 4 — the full attenuation architecture. This is the money diagram;</a:t>
            </a:r>
          </a:p>
          <a:p>
            <a:r>
              <a:t>spend time here.</a:t>
            </a:r>
          </a:p>
          <a:p>
            <a:endParaRPr/>
          </a:p>
          <a:p>
            <a:r>
              <a:t>Two feature vectors go into the same trained CatBoost model:</a:t>
            </a:r>
          </a:p>
          <a:p>
            <a:r>
              <a:t>  - Top: baseline emotions, untouched.</a:t>
            </a:r>
          </a:p>
          <a:p>
            <a:r>
              <a:t>  - Bottom: identical, except Miscellaneous emotions have been down-weighted according</a:t>
            </a:r>
          </a:p>
          <a:p>
            <a:r>
              <a:t>    to the pedagogical density metric. Note the red down-arrow on Misc, and that</a:t>
            </a:r>
          </a:p>
          <a:p>
            <a:r>
              <a:t>    Instructional Effectiveness, Fairness, and Workload are visibly unchanged.</a:t>
            </a:r>
          </a:p>
          <a:p>
            <a:endParaRPr/>
          </a:p>
          <a:p>
            <a:r>
              <a:t>The model is the same model in both cases. Nothing is retrained. That is what makes the</a:t>
            </a:r>
          </a:p>
          <a:p>
            <a:r>
              <a:t>difference between the two predictions attributable to the intervention and nothing else.</a:t>
            </a:r>
          </a:p>
          <a:p>
            <a:endParaRPr/>
          </a:p>
          <a:p>
            <a:r>
              <a:t>The formula on the right is the whole method:</a:t>
            </a:r>
          </a:p>
          <a:p>
            <a:endParaRPr/>
          </a:p>
          <a:p>
            <a:r>
              <a:t>    ŷ_adjusted = y_raw + (ŷ_attenuated − ŷ_baseline)</a:t>
            </a:r>
          </a:p>
          <a:p>
            <a:endParaRPr/>
          </a:p>
          <a:p>
            <a:r>
              <a:t>Read it out loud in words: take the student's actual rating, and add the amount the model</a:t>
            </a:r>
          </a:p>
          <a:p>
            <a:r>
              <a:t>says the rating would have moved if the off-topic emotion had been proportionally quieter.</a:t>
            </a:r>
          </a:p>
          <a:p>
            <a:endParaRPr/>
          </a:p>
          <a:p>
            <a:r>
              <a:t>The star rows make the point visually — raw 4 of 5 becomes adjusted 3 of 5. And note what</a:t>
            </a:r>
          </a:p>
          <a:p>
            <a:r>
              <a:t>is being kept: y_raw is the starting point. The student's judgment is never replaced, only</a:t>
            </a:r>
          </a:p>
          <a:p>
            <a:r>
              <a:t>corrected by an amount we can point at and defend.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Pipeline roadmap — four stages, each covered in turn:</a:t>
            </a:r>
          </a:p>
          <a:p>
            <a:endParaRPr/>
          </a:p>
          <a:p>
            <a:r>
              <a:t>1. ATC (Aspect-Term Categorization) — sort every clause into a topic.</a:t>
            </a:r>
          </a:p>
          <a:p>
            <a:r>
              <a:t>2. Sentiment extraction — a 28-dimensional emotion vector per clause.</a:t>
            </a:r>
          </a:p>
          <a:p>
            <a:r>
              <a:t>3. CatBoost modeling — predict the rating from topic-level emotion.</a:t>
            </a:r>
          </a:p>
          <a:p>
            <a:r>
              <a:t>4. Validity-weighted attenuation and rating adjustment — the intervention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Aspect-Term Categorization, in detail.</a:t>
            </a:r>
          </a:p>
          <a:p>
            <a:endParaRPr/>
          </a:p>
          <a:p>
            <a:r>
              <a:t>Review clauses are embedded using all-mpnet-base-v2. Written descriptions of each</a:t>
            </a:r>
          </a:p>
          <a:p>
            <a:r>
              <a:t>category are embedded in the same space. Cosine similarity then measures the semantic</a:t>
            </a:r>
          </a:p>
          <a:p>
            <a:r>
              <a:t>distance between each clause and each category description.</a:t>
            </a:r>
          </a:p>
          <a:p>
            <a:endParaRPr/>
          </a:p>
          <a:p>
            <a:r>
              <a:t>Each clause is assigned to the highest-similarity category, but only if that similarity</a:t>
            </a:r>
          </a:p>
          <a:p>
            <a:r>
              <a:t>exceeds 0.25. Otherwise it falls through to Miscellaneous. So Miscellaneous is both a</a:t>
            </a:r>
          </a:p>
          <a:p>
            <a:r>
              <a:t>real category and the residual bucket — anything the taxonomy does not recognise as</a:t>
            </a:r>
          </a:p>
          <a:p>
            <a:r>
              <a:t>pedagogical ends up there, which is exactly the behaviour we want for a noise proxy.</a:t>
            </a:r>
          </a:p>
          <a:p>
            <a:endParaRPr/>
          </a:p>
          <a:p>
            <a:r>
              <a:t>The four categories: Miscellaneous, Instructional Effectiveness, Workload, Fairness.</a:t>
            </a:r>
          </a:p>
          <a:p>
            <a:endParaRPr/>
          </a:p>
          <a:p>
            <a:r>
              <a:t>This is zero-shot — no labelled training data for categorization. That keeps it portable</a:t>
            </a:r>
          </a:p>
          <a:p>
            <a:r>
              <a:t>to other domains by swapping the category descriptions, and it is why accuracy is</a:t>
            </a:r>
          </a:p>
          <a:p>
            <a:r>
              <a:t>"acceptable rather than excellent" (see Limitations).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Miscellaneous Density, D_misc.</a:t>
            </a:r>
          </a:p>
          <a:p>
            <a:endParaRPr/>
          </a:p>
          <a:p>
            <a:r>
              <a:t>The proportion of the overall review directed toward the Miscellaneous category —</a:t>
            </a:r>
          </a:p>
          <a:p>
            <a:r>
              <a:t>computed over word counts. It represents how on-topic a review is.</a:t>
            </a:r>
          </a:p>
          <a:p>
            <a:endParaRPr/>
          </a:p>
          <a:p>
            <a:r>
              <a:t>D_misc = 1.0 means the review is entirely off-topic. D_misc = 0 means fully on-topic.</a:t>
            </a:r>
          </a:p>
          <a:p>
            <a:endParaRPr/>
          </a:p>
          <a:p>
            <a:r>
              <a:t>This single scalar is the load-bearing quantity in the whole framework: it is what drives</a:t>
            </a:r>
          </a:p>
          <a:p>
            <a:r>
              <a:t>the attenuation weight ζ later on. Worth flagging now that it is a proxy — word share</a:t>
            </a:r>
          </a:p>
          <a:p>
            <a:r>
              <a:t>aimed at a residual category — not a direct measurement of noise. That distinction</a:t>
            </a:r>
          </a:p>
          <a:p>
            <a:r>
              <a:t>returns in both Discussion and Limitations.</a:t>
            </a:r>
          </a:p>
          <a:p>
            <a:endParaRPr/>
          </a:p>
          <a:p>
            <a:r>
              <a:t>Distribution across the corpus is heavily right-skewed with a median of 0.11, but with a</a:t>
            </a:r>
          </a:p>
          <a:p>
            <a:r>
              <a:t>non-trivial tail of reviews carrying substantial off-topic density.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ATC architecture in detail.</a:t>
            </a:r>
          </a:p>
          <a:p>
            <a:endParaRPr/>
          </a:p>
          <a:p>
            <a:r>
              <a:t>Two things get embedded into the same vector space by all-mpnet-base-v2: written</a:t>
            </a:r>
          </a:p>
          <a:p>
            <a:r>
              <a:t>descriptions of each category (Instructional Effectiveness, Fairness &amp; Grading, Workload</a:t>
            </a:r>
          </a:p>
          <a:p>
            <a:r>
              <a:t>&amp; Difficulty), and the individual review clauses.</a:t>
            </a:r>
          </a:p>
          <a:p>
            <a:endParaRPr/>
          </a:p>
          <a:p>
            <a:r>
              <a:t>Cosine similarity between a clause embedding and each category embedding produces a</a:t>
            </a:r>
          </a:p>
          <a:p>
            <a:r>
              <a:t>similarity vector [s₁, s₂, s₃]. The highest wins, provided it clears 0.25. Below that</a:t>
            </a:r>
          </a:p>
          <a:p>
            <a:r>
              <a:t>threshold, the clause falls through to Miscellaneous.</a:t>
            </a:r>
          </a:p>
          <a:p>
            <a:endParaRPr/>
          </a:p>
          <a:p>
            <a:r>
              <a:t>Two points worth making from this diagram:</a:t>
            </a:r>
          </a:p>
          <a:p>
            <a:endParaRPr/>
          </a:p>
          <a:p>
            <a:r>
              <a:t>The category descriptions are the only domain-specific component. Swap them and the</a:t>
            </a:r>
          </a:p>
          <a:p>
            <a:r>
              <a:t>framework moves to another domain — this is the modularity claim in the practical</a:t>
            </a:r>
          </a:p>
          <a:p>
            <a:r>
              <a:t>implications.</a:t>
            </a:r>
          </a:p>
          <a:p>
            <a:endParaRPr/>
          </a:p>
          <a:p>
            <a:r>
              <a:t>And note there are three descriptions but four categories. Miscellaneous has no</a:t>
            </a:r>
          </a:p>
          <a:p>
            <a:r>
              <a:t>description of its own; it is the residual, defined by failure to match anything else.</a:t>
            </a:r>
          </a:p>
          <a:p>
            <a:r>
              <a:t>That is deliberate — you cannot enumerate everything students might write about, so you</a:t>
            </a:r>
          </a:p>
          <a:p>
            <a:r>
              <a:t>define the pedagogical space and treat the complement as noise.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Sentiment extraction.</a:t>
            </a:r>
          </a:p>
          <a:p>
            <a:endParaRPr/>
          </a:p>
          <a:p>
            <a:r>
              <a:t>Categorized clauses are fed individually into roberta-base-go_emotions — a model trained</a:t>
            </a:r>
          </a:p>
          <a:p>
            <a:r>
              <a:t>from roberta-base on the GoEmotions dataset (Reddit comments) for multi-label emotion</a:t>
            </a:r>
          </a:p>
          <a:p>
            <a:r>
              <a:t>classification.</a:t>
            </a:r>
          </a:p>
          <a:p>
            <a:endParaRPr/>
          </a:p>
          <a:p>
            <a:r>
              <a:t>Output is a 28-dimensional emotional probability vector per clause. Multi-label, not</a:t>
            </a:r>
          </a:p>
          <a:p>
            <a:r>
              <a:t>single-label, so a clause can carry admiration and disappointment simultaneously — which</a:t>
            </a:r>
          </a:p>
          <a:p>
            <a:r>
              <a:t>short informal reviews frequently do.</a:t>
            </a:r>
          </a:p>
          <a:p>
            <a:endParaRPr/>
          </a:p>
          <a:p>
            <a:r>
              <a:t>An INT8 quantized ONNX model was used for throughput. Note the trade-off: quantization</a:t>
            </a:r>
          </a:p>
          <a:p>
            <a:r>
              <a:t>costs some accuracy, and the training domain (Reddit) is not the deployment domain</a:t>
            </a:r>
          </a:p>
          <a:p>
            <a:r>
              <a:t>(student reviews), which limits performance on sarcasm and academic idiom. Both appear in</a:t>
            </a:r>
          </a:p>
          <a:p>
            <a:r>
              <a:t>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Feature aggregation — the problem and the solution.</a:t>
            </a:r>
          </a:p>
          <a:p>
            <a:endParaRPr/>
          </a:p>
          <a:p>
            <a:r>
              <a:t>The problem: a single review can contain clauses from several different categories, and</a:t>
            </a:r>
          </a:p>
          <a:p>
            <a:r>
              <a:t>each clause carries its own 27-feature emotion vector. How do you get to one feature</a:t>
            </a:r>
          </a:p>
          <a:p>
            <a:r>
              <a:t>vector per review?</a:t>
            </a:r>
          </a:p>
          <a:p>
            <a:endParaRPr/>
          </a:p>
          <a:p>
            <a:r>
              <a:t>The solution, in three steps:</a:t>
            </a:r>
          </a:p>
          <a:p>
            <a:r>
              <a:t>- Combine all categories into one vector across the review's clauses.</a:t>
            </a:r>
          </a:p>
          <a:p>
            <a:r>
              <a:t>- Average the emotional contributions directed toward the same category.</a:t>
            </a:r>
          </a:p>
          <a:p>
            <a:r>
              <a:t>- Impute zeros where a category was never mentioned.</a:t>
            </a:r>
          </a:p>
          <a:p>
            <a:endParaRPr/>
          </a:p>
          <a:p>
            <a:r>
              <a:t>That last step is why the feature matrix is sparse — most reviews do not touch all four</a:t>
            </a:r>
          </a:p>
          <a:p>
            <a:r>
              <a:t>categories — and it is why CatBoost was chosen, since it handles sparsity well.</a:t>
            </a:r>
          </a:p>
          <a:p>
            <a:endParaRPr/>
          </a:p>
          <a:p>
            <a:r>
              <a:t>The averaging step is a real information loss: a review with one furious Workload clause</a:t>
            </a:r>
          </a:p>
          <a:p>
            <a:r>
              <a:t>and one mild one produces the same average as two moderate ones. Flagged in Limitations</a:t>
            </a:r>
          </a:p>
          <a:p>
            <a:r>
              <a:t>as a place where nuance is lost, particularly in short reviews with mixed sentiment.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arithmetic: 27 emotion features × 4 categories = 108, plus the four</a:t>
            </a:r>
          </a:p>
          <a:p>
            <a:r>
              <a:t>density terms (D_misc, D_eff, D_work, D_fair) = 112 features per review.</a:t>
            </a:r>
          </a:p>
          <a:p>
            <a:endParaRPr/>
          </a:p>
          <a:p>
            <a:r>
              <a:t>D_misc is Miscellaneous density, D_eff is Instructional Effectiveness density, and so on</a:t>
            </a:r>
          </a:p>
          <a:p>
            <a:r>
              <a:t>for Workload and Fairness. The densities are what let the model condition on how on-topic</a:t>
            </a:r>
          </a:p>
          <a:p>
            <a:r>
              <a:t>a review is, not just what emotions it contains.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CatBoost modeling.</a:t>
            </a:r>
          </a:p>
          <a:p>
            <a:endParaRPr/>
          </a:p>
          <a:p>
            <a:r>
              <a:t>CatBoost is a gradient-boosted tree library that handles categorical and numerical data</a:t>
            </a:r>
          </a:p>
          <a:p>
            <a:r>
              <a:t>for regression. It was chosen because it is highly effective on sparse data — remember</a:t>
            </a:r>
          </a:p>
          <a:p>
            <a:r>
              <a:t>all those imputed zeros from the aggregation step — and on non-linear relationships.</a:t>
            </a:r>
          </a:p>
          <a:p>
            <a:endParaRPr/>
          </a:p>
          <a:p>
            <a:r>
              <a:t>Ratings are modeled as a function of category-specific emotional features plus the four</a:t>
            </a:r>
          </a:p>
          <a:p>
            <a:r>
              <a:t>densities.</a:t>
            </a:r>
          </a:p>
          <a:p>
            <a:endParaRPr/>
          </a:p>
          <a:p>
            <a:r>
              <a:t>Validation design: professor-level grouped split with 5-fold cross-validation. Grouping</a:t>
            </a:r>
          </a:p>
          <a:p>
            <a:r>
              <a:t>by professor matters — without it, multiple reviews of the same instructor would leak</a:t>
            </a:r>
          </a:p>
          <a:p>
            <a:r>
              <a:t>across the train/test boundary and inflate performance.</a:t>
            </a:r>
          </a:p>
          <a:p>
            <a:endParaRPr/>
          </a:p>
          <a:p>
            <a:r>
              <a:t>The trained model is saved, and baseline predictions are preserved. That second point is</a:t>
            </a:r>
          </a:p>
          <a:p>
            <a:r>
              <a:t>essential to the attenuation step: the adjustment is defined as the difference between</a:t>
            </a:r>
          </a:p>
          <a:p>
            <a:r>
              <a:t>the baseline prediction and the attenuated prediction, so the baseline has to be held</a:t>
            </a:r>
          </a:p>
          <a:p>
            <a:r>
              <a:t>fixed.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Model comparison. CatBoost was not assumed — it was selected.</a:t>
            </a:r>
          </a:p>
          <a:p>
            <a:endParaRPr/>
          </a:p>
          <a:p>
            <a:r>
              <a:t>Ordinal Regression   MAE 0.9509 · Spearman ρ 0.5414 · R² 0.0794</a:t>
            </a:r>
          </a:p>
          <a:p>
            <a:r>
              <a:t>Linear Regression    MAE 0.7940 · Spearman ρ 0.6875 · R² 0.5266</a:t>
            </a:r>
          </a:p>
          <a:p>
            <a:r>
              <a:t>Random Forest        MAE 0.6938 · Spearman ρ 0.7289 · R² 0.6217</a:t>
            </a:r>
          </a:p>
          <a:p>
            <a:r>
              <a:t>XGBoost              MAE 0.6710 · Spearman ρ 0.7329 · R² 0.5638</a:t>
            </a:r>
          </a:p>
          <a:p>
            <a:endParaRPr/>
          </a:p>
          <a:p>
            <a:r>
              <a:t>CatBoost wins on the combination, reaching ρ = 0.7355 and R² = 0.6140. Ordinal regression</a:t>
            </a:r>
          </a:p>
          <a:p>
            <a:r>
              <a:t>performing worst is the interesting result — despite ratings being ordinal by nature, the</a:t>
            </a:r>
          </a:p>
          <a:p>
            <a:r>
              <a:t>relationship between emotion features and rating is non-linear enough that a linear</a:t>
            </a:r>
          </a:p>
          <a:p>
            <a:r>
              <a:t>ordinal model cannot capture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attenuation mechanism itself.</a:t>
            </a:r>
          </a:p>
          <a:p>
            <a:endParaRPr/>
          </a:p>
          <a:p>
            <a:r>
              <a:t>Miscellaneous emotions are down-weighted by ζ (zeta), where ζ = 1 − D_misc^s. The exponent s controls the</a:t>
            </a:r>
          </a:p>
          <a:p>
            <a:r>
              <a:t>non-linearity of ζ. As D_misc increases, ζ decreases — so the more off-topic a review is,</a:t>
            </a:r>
          </a:p>
          <a:p>
            <a:r>
              <a:t>the harder its off-topic emotions are suppressed.</a:t>
            </a:r>
          </a:p>
          <a:p>
            <a:endParaRPr/>
          </a:p>
          <a:p>
            <a:r>
              <a:t>The down-weighting is proportional to D_misc, which means it is contextual to each</a:t>
            </a:r>
          </a:p>
          <a:p>
            <a:r>
              <a:t>individual review rather than a blanket rule. All other features are preserved untouched:</a:t>
            </a:r>
          </a:p>
          <a:p>
            <a:r>
              <a:t>pedagogical emotions and the density terms pass through unchanged. Only E_misc is</a:t>
            </a:r>
          </a:p>
          <a:p>
            <a:r>
              <a:t>modified.</a:t>
            </a:r>
          </a:p>
          <a:p>
            <a:endParaRPr/>
          </a:p>
          <a:p>
            <a:r>
              <a:t>Note for questions: s does not have a unique optimum. Several values across the search</a:t>
            </a:r>
          </a:p>
          <a:p>
            <a:r>
              <a:t>range produce near-equivalent loss, and resampling the tuning professors selects values</a:t>
            </a:r>
          </a:p>
          <a:p>
            <a:r>
              <a:t>between 0.23 and 0.94. Downstream adjustments are highly stable across that range</a:t>
            </a:r>
          </a:p>
          <a:p>
            <a:r>
              <a:t>(Pearson r &gt; 0.96 between Δ vectors), so results do not depend materially on the value —</a:t>
            </a:r>
          </a:p>
          <a:p>
            <a:r>
              <a:t>but the exponent is weakly identified and I would rather say so than be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Completing the adjustment.</a:t>
            </a:r>
          </a:p>
          <a:p>
            <a:endParaRPr/>
          </a:p>
          <a:p>
            <a:r>
              <a:t>The attenuated feature vector goes back into the same fixed CatBoost model, which</a:t>
            </a:r>
          </a:p>
          <a:p>
            <a:r>
              <a:t>produces a new predicted rating. Take the difference between the attenuated prediction and</a:t>
            </a:r>
          </a:p>
          <a:p>
            <a:r>
              <a:t>the baseline prediction. That difference is the model-estimated contribution of the</a:t>
            </a:r>
          </a:p>
          <a:p>
            <a:r>
              <a:t>off-topic emotion, and it is added to the original student rating (equivalently: the model-estimated off-topic contribution is removed).</a:t>
            </a:r>
          </a:p>
          <a:p>
            <a:endParaRPr/>
          </a:p>
          <a:p>
            <a:r>
              <a:t>Two design properties worth stressing:</a:t>
            </a:r>
          </a:p>
          <a:p>
            <a:endParaRPr/>
          </a:p>
          <a:p>
            <a:r>
              <a:t>First, the model is held fixed. Nothing is retrained. The only thing that changes between</a:t>
            </a:r>
          </a:p>
          <a:p>
            <a:r>
              <a:t>the two predictions is the E_misc block, so the difference is attributable to that</a:t>
            </a:r>
          </a:p>
          <a:p>
            <a:r>
              <a:t>intervention and nothing else.</a:t>
            </a:r>
          </a:p>
          <a:p>
            <a:endParaRPr/>
          </a:p>
          <a:p>
            <a:r>
              <a:t>Second, the raw student rating is preserved throughout — the adjustment is added to it,</a:t>
            </a:r>
          </a:p>
          <a:p>
            <a:r>
              <a:t>not substituted for it. The student's evaluative intent is never discarded, only</a:t>
            </a:r>
          </a:p>
          <a:p>
            <a:r>
              <a:t>corrected by an amount we can point at and justify.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Worked example — Review #8113. This is the review from the opening: "dude is huge</a:t>
            </a:r>
          </a:p>
          <a:p>
            <a:r>
              <a:rPr dirty="0"/>
              <a:t>and i mean huge and is a rude guy but he knows </a:t>
            </a:r>
            <a:r>
              <a:rPr dirty="0" err="1"/>
              <a:t>alot</a:t>
            </a:r>
            <a:r>
              <a:rPr dirty="0"/>
              <a:t> about politics."</a:t>
            </a:r>
          </a:p>
          <a:p>
            <a:endParaRPr dirty="0"/>
          </a:p>
          <a:p>
            <a:r>
              <a:rPr dirty="0"/>
              <a:t>Section 1, clause by clause:</a:t>
            </a:r>
          </a:p>
          <a:p>
            <a:r>
              <a:rPr dirty="0"/>
              <a:t>  "dude is huge"                  → </a:t>
            </a:r>
            <a:r>
              <a:rPr dirty="0" err="1"/>
              <a:t>Misc</a:t>
            </a:r>
            <a:r>
              <a:rPr dirty="0"/>
              <a:t>, sim 0.030, admiration 0.044</a:t>
            </a:r>
          </a:p>
          <a:p>
            <a:r>
              <a:rPr dirty="0"/>
              <a:t>  "i mean huge"                   → </a:t>
            </a:r>
            <a:r>
              <a:rPr dirty="0" err="1"/>
              <a:t>Misc</a:t>
            </a:r>
            <a:r>
              <a:rPr dirty="0"/>
              <a:t>, sim −0.010, approval 0.018</a:t>
            </a:r>
          </a:p>
          <a:p>
            <a:r>
              <a:rPr dirty="0"/>
              <a:t>  "is a rude guy"                 → </a:t>
            </a:r>
            <a:r>
              <a:rPr dirty="0" err="1"/>
              <a:t>Misc</a:t>
            </a:r>
            <a:r>
              <a:rPr dirty="0"/>
              <a:t>, sim 0.200, anger 0.567, annoyance 0.361</a:t>
            </a:r>
          </a:p>
          <a:p>
            <a:r>
              <a:rPr dirty="0"/>
              <a:t>  "he knows </a:t>
            </a:r>
            <a:r>
              <a:rPr dirty="0" err="1"/>
              <a:t>alot</a:t>
            </a:r>
            <a:r>
              <a:rPr dirty="0"/>
              <a:t> about politics"  → Instr. Effectiveness, sim 0.270, approval 0.293</a:t>
            </a:r>
          </a:p>
          <a:p>
            <a:endParaRPr dirty="0"/>
          </a:p>
          <a:p>
            <a:r>
              <a:rPr dirty="0"/>
              <a:t>Notice the third clause carries by far the strongest emotion in the review — anger at</a:t>
            </a:r>
          </a:p>
          <a:p>
            <a:r>
              <a:rPr dirty="0"/>
              <a:t>0.567 — and it is aimed at the instructor as a person, not at their teaching.</a:t>
            </a:r>
          </a:p>
          <a:p>
            <a:endParaRPr dirty="0"/>
          </a:p>
          <a:p>
            <a:r>
              <a:rPr dirty="0"/>
              <a:t>Section 2 — the intervention. Instructional Effectiveness is byte-for-byte identical</a:t>
            </a:r>
          </a:p>
          <a:p>
            <a:r>
              <a:rPr dirty="0"/>
              <a:t>before and after: approval 0.293, admiration 0.031, and so on. Only the Miscellaneous row</a:t>
            </a:r>
          </a:p>
          <a:p>
            <a:r>
              <a:rPr dirty="0"/>
              <a:t>changes, shown in red: anger 0.192 → 0.056, annoyance 0.129 → 0.038.</a:t>
            </a:r>
          </a:p>
          <a:p>
            <a:endParaRPr dirty="0"/>
          </a:p>
          <a:p>
            <a:r>
              <a:rPr dirty="0"/>
              <a:t>Section 3 — the arithmetic. Three of four clauses are Miscellaneous, so </a:t>
            </a:r>
            <a:r>
              <a:rPr dirty="0" err="1"/>
              <a:t>D_misc</a:t>
            </a:r>
            <a:r>
              <a:rPr dirty="0"/>
              <a:t> = 0.670,</a:t>
            </a:r>
          </a:p>
          <a:p>
            <a:r>
              <a:rPr dirty="0"/>
              <a:t>which gives ζ = 0.291 — roughly a 71% reduction in off-topic emotion. Baseline prediction</a:t>
            </a:r>
          </a:p>
          <a:p>
            <a:r>
              <a:rPr dirty="0"/>
              <a:t>2.506, attenuated prediction 3.159, so Δ = +0.653. The student rated 3.0; adjusted is</a:t>
            </a:r>
          </a:p>
          <a:p>
            <a:r>
              <a:rPr dirty="0"/>
              <a:t>3.653.</a:t>
            </a:r>
          </a:p>
          <a:p>
            <a:endParaRPr dirty="0"/>
          </a:p>
          <a:p>
            <a:r>
              <a:rPr dirty="0"/>
              <a:t>The interpretation to say out loud: the model's read is that this professor was marked</a:t>
            </a:r>
          </a:p>
          <a:p>
            <a:r>
              <a:rPr dirty="0"/>
              <a:t>down substantially for being rude and physically conspicuous, not for their teaching —</a:t>
            </a:r>
          </a:p>
          <a:p>
            <a:r>
              <a:rPr dirty="0"/>
              <a:t>and the one thing the student said about the teaching was positive. This is what an</a:t>
            </a:r>
          </a:p>
          <a:p>
            <a:r>
              <a:rPr dirty="0"/>
              <a:t>auditable adjustment looks like. Every number here is inspectable and every step is</a:t>
            </a:r>
          </a:p>
          <a:p>
            <a:r>
              <a:rPr dirty="0"/>
              <a:t>attributable.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opener —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Distribution of Miscellaneous content density across all 17,121 reviews.</a:t>
            </a:r>
          </a:p>
          <a:p>
            <a:r>
              <a:t>Mean 0.22, median 0.11.</a:t>
            </a:r>
          </a:p>
          <a:p>
            <a:endParaRPr/>
          </a:p>
          <a:p>
            <a:r>
              <a:t>Three features to point at:</a:t>
            </a:r>
          </a:p>
          <a:p>
            <a:endParaRPr/>
          </a:p>
          <a:p>
            <a:r>
              <a:t>The huge spike at zero — nearly 7,000 reviews are entirely on-topic. Those receive</a:t>
            </a:r>
          </a:p>
          <a:p>
            <a:r>
              <a:t>essentially no adjustment, which is the correct behaviour and worth stressing: the</a:t>
            </a:r>
          </a:p>
          <a:p>
            <a:r>
              <a:t>framework is not rewriting the corpus.</a:t>
            </a:r>
          </a:p>
          <a:p>
            <a:endParaRPr/>
          </a:p>
          <a:p>
            <a:r>
              <a:t>The long flat tail out to 0.8 — a substantial minority of reviews carry meaningful</a:t>
            </a:r>
          </a:p>
          <a:p>
            <a:r>
              <a:t>off-topic content.</a:t>
            </a:r>
          </a:p>
          <a:p>
            <a:endParaRPr/>
          </a:p>
          <a:p>
            <a:r>
              <a:t>And the second spike at exactly 1.0 — roughly 1,000 reviews are entirely off-topic. This</a:t>
            </a:r>
          </a:p>
          <a:p>
            <a:r>
              <a:t>is the collapse case from Limitations: at D_misc = 1 the emotions are fully down-weighted,</a:t>
            </a:r>
          </a:p>
          <a:p>
            <a:r>
              <a:t>so those reviews all produce identical feature vectors and the model returns the same</a:t>
            </a:r>
          </a:p>
          <a:p>
            <a:r>
              <a:t>prediction for all of them. It is a visible artifact, not a hidden one, which is why it is</a:t>
            </a:r>
          </a:p>
          <a:p>
            <a:r>
              <a:t>worth showing this chart rather than just quoting the median.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Clause topics versus rating — raw clause counts.</a:t>
            </a:r>
          </a:p>
          <a:p>
            <a:endParaRPr/>
          </a:p>
          <a:p>
            <a:r>
              <a:t>The headline is the 1-star column. Miscellaneous is 2,882 clauses against Instructional</a:t>
            </a:r>
          </a:p>
          <a:p>
            <a:r>
              <a:t>Effectiveness at 2,274 — that is the ~27% figure from the RQ2 slide, and it means that in</a:t>
            </a:r>
          </a:p>
          <a:p>
            <a:r>
              <a:t>the angriest reviews, the single most common thing students talk about is not teaching.</a:t>
            </a:r>
          </a:p>
          <a:p>
            <a:endParaRPr/>
          </a:p>
          <a:p>
            <a:r>
              <a:t>Contrast the 5-star column: Instructional Effectiveness 11,079, nearly double</a:t>
            </a:r>
          </a:p>
          <a:p>
            <a:r>
              <a:t>Miscellaneous at 5,785. When students are happy, they talk about the instruction.</a:t>
            </a:r>
          </a:p>
          <a:p>
            <a:endParaRPr/>
          </a:p>
          <a:p>
            <a:r>
              <a:t>Fairness is the thin row throughout, but look at its shape — 936 clauses at 1-star,</a:t>
            </a:r>
          </a:p>
          <a:p>
            <a:r>
              <a:t>falling to 264 at 2.5, then climbing back to 813 at 5-star. It is the most bimodal topic</a:t>
            </a:r>
          </a:p>
          <a:p>
            <a:r>
              <a:t>in the corpus: students raise fairness when they feel wronged or when they feel</a:t>
            </a:r>
          </a:p>
          <a:p>
            <a:r>
              <a:t>exceptionally well treated, and rarely otherwise.</a:t>
            </a:r>
          </a:p>
          <a:p>
            <a:endParaRPr/>
          </a:p>
          <a:p>
            <a:r>
              <a:t>Caveat if asked: these are raw counts, and the corpus is 5-star heavy, so column totals</a:t>
            </a:r>
          </a:p>
          <a:p>
            <a:r>
              <a:t>are not comparable in absolute terms. The within-column proportions are the meaningful</a:t>
            </a:r>
          </a:p>
          <a:p>
            <a:r>
              <a:t>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5-Star clauses: emotion heatmap. Note the single darkest cell in the grid.</a:t>
            </a:r>
          </a:p>
          <a:p>
            <a:endParaRPr/>
          </a:p>
          <a:p>
            <a:r>
              <a:t>Admiration toward Instructional Effectiveness at 0.47 dominates everything else on the</a:t>
            </a:r>
          </a:p>
          <a:p>
            <a:r>
              <a:t>slide — nothing else exceeds 0.19. High ratings are driven by concentrated positive affect</a:t>
            </a:r>
          </a:p>
          <a:p>
            <a:r>
              <a:t>aimed squarely at teaching.</a:t>
            </a:r>
          </a:p>
          <a:p>
            <a:endParaRPr/>
          </a:p>
          <a:p>
            <a:r>
              <a:t>But look at the Miscellaneous row: admiration 0.28, approval 0.12, love 0.07. That is</a:t>
            </a:r>
          </a:p>
          <a:p>
            <a:r>
              <a:t>substantial positive emotion aimed at things that are not teaching. So even in the</a:t>
            </a:r>
          </a:p>
          <a:p>
            <a:r>
              <a:t>best-case reviews, where signal-to-noise is most favourable, the absolute quantity of</a:t>
            </a:r>
          </a:p>
          <a:p>
            <a:r>
              <a:t>off-topic affect is high. Favourable ratio, not absent noise.</a:t>
            </a:r>
          </a:p>
          <a:p>
            <a:endParaRPr/>
          </a:p>
          <a:p>
            <a:r>
              <a:t>Compare with the next slide — the structural difference between the two ends of the scale</a:t>
            </a:r>
          </a:p>
          <a:p>
            <a:r>
              <a:t>is the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1-Star clauses: emotion heatmap. Put this beside the 5-star heatmap.</a:t>
            </a:r>
          </a:p>
          <a:p>
            <a:endParaRPr/>
          </a:p>
          <a:p>
            <a:r>
              <a:t>Where 5-star had one dominant cell at 0.47, 1-star has no peak at all — the maximum</a:t>
            </a:r>
          </a:p>
          <a:p>
            <a:r>
              <a:t>anywhere is 0.15, and negative emotion is spread evenly across every topic including</a:t>
            </a:r>
          </a:p>
          <a:p>
            <a:r>
              <a:t>Miscellaneous. Annoyance and disapproval sit at 0.11 to 0.15 across the board.</a:t>
            </a:r>
          </a:p>
          <a:p>
            <a:endParaRPr/>
          </a:p>
          <a:p>
            <a:r>
              <a:t>So the two ends of the scale are structurally different. High ratings are concentrated</a:t>
            </a:r>
          </a:p>
          <a:p>
            <a:r>
              <a:t>praise for teaching. Low ratings are diffuse dissatisfaction with everything.</a:t>
            </a:r>
          </a:p>
          <a:p>
            <a:endParaRPr/>
          </a:p>
          <a:p>
            <a:r>
              <a:t>Two details worth flagging. Fairness carries the single highest negative value on the</a:t>
            </a:r>
          </a:p>
          <a:p>
            <a:r>
              <a:t>slide — annoyance at 0.15 — which supports grading equity as the sharpest concern among</a:t>
            </a:r>
          </a:p>
          <a:p>
            <a:r>
              <a:t>dissatisfied students. And the Miscellaneous row is fully lit up: annoyance 0.11,</a:t>
            </a:r>
          </a:p>
          <a:p>
            <a:r>
              <a:t>disapproval 0.11, anger 0.05. Off-topic negativity is a real component of low ratings.</a:t>
            </a:r>
          </a:p>
          <a:p>
            <a:endParaRPr/>
          </a:p>
          <a:p>
            <a:r>
              <a:t>This is the asymmetry that makes proportional attenuation the right tool. There is no</a:t>
            </a:r>
          </a:p>
          <a:p>
            <a:r>
              <a:t>single emotion or topic you could target with a fixed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SHAP beeswarm — baseline model, before any attenuation. This is the RQ1 and RQ2</a:t>
            </a:r>
          </a:p>
          <a:p>
            <a:r>
              <a:t>evidence in one chart.</a:t>
            </a:r>
          </a:p>
          <a:p>
            <a:endParaRPr/>
          </a:p>
          <a:p>
            <a:r>
              <a:t>Ranked by importance:</a:t>
            </a:r>
          </a:p>
          <a:p>
            <a:r>
              <a:t>  1. Positive Instructional Effectiveness — the widest spread, pushing to +0.09</a:t>
            </a:r>
          </a:p>
          <a:p>
            <a:r>
              <a:t>  2. Negative Instructional Effectiveness — reaching −0.15</a:t>
            </a:r>
          </a:p>
          <a:p>
            <a:r>
              <a:t>  3. Negative Miscellaneous</a:t>
            </a:r>
          </a:p>
          <a:p>
            <a:r>
              <a:t>  4. Negative Workload</a:t>
            </a:r>
          </a:p>
          <a:p>
            <a:r>
              <a:t>  5. Positive Miscellaneous</a:t>
            </a:r>
          </a:p>
          <a:p>
            <a:r>
              <a:t>  6. Negative Fairness</a:t>
            </a:r>
          </a:p>
          <a:p>
            <a:r>
              <a:t>  7. Positive Workload</a:t>
            </a:r>
          </a:p>
          <a:p>
            <a:r>
              <a:t>  8. Positive Fairness</a:t>
            </a:r>
          </a:p>
          <a:p>
            <a:endParaRPr/>
          </a:p>
          <a:p>
            <a:r>
              <a:t>Two readings, and be explicit about which is which:</a:t>
            </a:r>
          </a:p>
          <a:p>
            <a:endParaRPr/>
          </a:p>
          <a:p>
            <a:r>
              <a:t>By individual feature — Negative Miscellaneous is third, above both polarities of Fairness</a:t>
            </a:r>
          </a:p>
          <a:p>
            <a:r>
              <a:t>and Workload. Off-topic negativity outweighs how students feel about their grades and</a:t>
            </a:r>
          </a:p>
          <a:p>
            <a:r>
              <a:t>their workload.</a:t>
            </a:r>
          </a:p>
          <a:p>
            <a:endParaRPr/>
          </a:p>
          <a:p>
            <a:r>
              <a:t>By category, summing polarities — Miscellaneous is second overall behind Instructional</a:t>
            </a:r>
          </a:p>
          <a:p>
            <a:r>
              <a:t>Effectiveness, with a mean |SHAP| of 0.671. Same data, different aggregation, both numbers</a:t>
            </a:r>
          </a:p>
          <a:p>
            <a:r>
              <a:t>correct.</a:t>
            </a:r>
          </a:p>
          <a:p>
            <a:endParaRPr/>
          </a:p>
          <a:p>
            <a:r>
              <a:t>Also worth noting that Positive Miscellaneous is fifth. Off-topic content pushes ratings</a:t>
            </a:r>
          </a:p>
          <a:p>
            <a:r>
              <a:t>in both directions — it is not simply a penalty term.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Frequency distribution of attenuation Δs across all reviews. Mean Δ = +0.0404.</a:t>
            </a:r>
          </a:p>
          <a:p>
            <a:endParaRPr/>
          </a:p>
          <a:p>
            <a:r>
              <a:t>The shape is the argument. It is sharply peaked at zero — the overwhelming majority of</a:t>
            </a:r>
          </a:p>
          <a:p>
            <a:r>
              <a:t>reviews barely move, because the overwhelming majority are mostly on-topic. This is a</a:t>
            </a:r>
          </a:p>
          <a:p>
            <a:r>
              <a:t>targeted correction, not a global rescaling.</a:t>
            </a:r>
          </a:p>
          <a:p>
            <a:endParaRPr/>
          </a:p>
          <a:p>
            <a:r>
              <a:t>The mean is slightly positive at +0.04, which reflects that off-topic emotion in this</a:t>
            </a:r>
          </a:p>
          <a:p>
            <a:r>
              <a:t>corpus skews negative — so removing it more often nudges ratings up than down. Do not</a:t>
            </a:r>
          </a:p>
          <a:p>
            <a:r>
              <a:t>overstate that; it is a small aggregate effect.</a:t>
            </a:r>
          </a:p>
          <a:p>
            <a:endParaRPr/>
          </a:p>
          <a:p>
            <a:r>
              <a:t>Then the tails. Out to +2.6 on the right and −1.4 on the left sit the reviews with high</a:t>
            </a:r>
          </a:p>
          <a:p>
            <a:r>
              <a:t>off-topic density and strongly polarized off-topic emotion. Those are the cases the</a:t>
            </a:r>
          </a:p>
          <a:p>
            <a:r>
              <a:t>framework exists for.</a:t>
            </a:r>
          </a:p>
          <a:p>
            <a:endParaRPr/>
          </a:p>
          <a:p>
            <a:r>
              <a:t>Note also that mean Δ (+0.04) and mean |Δ| (0.207) are different quantities — the signed</a:t>
            </a:r>
          </a:p>
          <a:p>
            <a:r>
              <a:t>mean nearly cancels, the absolute mean does not. Quote whichever answers the question</a:t>
            </a:r>
          </a:p>
          <a:p>
            <a:r>
              <a:t>being asked, but do not mix them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Professor-level rating distributions, raw versus adjusted, as kernel density</a:t>
            </a:r>
          </a:p>
          <a:p>
            <a:r>
              <a:t>estimates.</a:t>
            </a:r>
          </a:p>
          <a:p>
            <a:endParaRPr/>
          </a:p>
          <a:p>
            <a:r>
              <a:t>The two curves sit almost on top of each other and the means are visually</a:t>
            </a:r>
          </a:p>
          <a:p>
            <a:r>
              <a:t>indistinguishable. Say what that means plainly: at the aggregate level, almost nothing</a:t>
            </a:r>
          </a:p>
          <a:p>
            <a:r>
              <a:t>happens.</a:t>
            </a:r>
          </a:p>
          <a:p>
            <a:endParaRPr/>
          </a:p>
          <a:p>
            <a:r>
              <a:t>The visible difference is a slight compression — the adjusted curve peaks marginally</a:t>
            </a:r>
          </a:p>
          <a:p>
            <a:r>
              <a:t>higher around 4.2 and has slightly thinner tails at both ends.</a:t>
            </a:r>
          </a:p>
          <a:p>
            <a:endParaRPr/>
          </a:p>
          <a:p>
            <a:r>
              <a:t>This is the answer to "does this just move everyone's scores around?" No. The population</a:t>
            </a:r>
          </a:p>
          <a:p>
            <a:r>
              <a:t>distribution is preserved. The framework is not inflating or deflating ratings globally;</a:t>
            </a:r>
          </a:p>
          <a:p>
            <a:r>
              <a:t>it is redistributing at the individual level where off-topic content is concentrated.</a:t>
            </a:r>
          </a:p>
          <a:p>
            <a:endParaRPr/>
          </a:p>
          <a:p>
            <a:r>
              <a:t>If someone objects that this makes the method look inconsequential — that is precisely the</a:t>
            </a:r>
          </a:p>
          <a:p>
            <a:r>
              <a:t>conservative-correction behaviour Marsh &amp; Roche argue for, and the next slide shows where</a:t>
            </a:r>
          </a:p>
          <a:p>
            <a:r>
              <a:t>the action actually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The twenty professors whose average ratings moved most, positive and negative.</a:t>
            </a:r>
          </a:p>
          <a:p>
            <a:endParaRPr dirty="0"/>
          </a:p>
          <a:p>
            <a:r>
              <a:rPr dirty="0"/>
              <a:t>Range is roughly +0.66 down to −0.94. So while the population distribution barely moves,</a:t>
            </a:r>
          </a:p>
          <a:p>
            <a:r>
              <a:rPr dirty="0"/>
              <a:t>individual instructors can shift by close to a full point.</a:t>
            </a:r>
          </a:p>
          <a:p>
            <a:endParaRPr dirty="0"/>
          </a:p>
          <a:p>
            <a:r>
              <a:rPr dirty="0"/>
              <a:t>This is where the method matters, and it is also where the stakes are. A 0.9-point</a:t>
            </a:r>
          </a:p>
          <a:p>
            <a:r>
              <a:rPr dirty="0"/>
              <a:t>correction to an instructor's average is consequential if anyone acts on it — which is</a:t>
            </a:r>
          </a:p>
          <a:p>
            <a:r>
              <a:rPr dirty="0"/>
              <a:t>exactly why the audit trail from the worked example is not optional. Every one of these</a:t>
            </a:r>
          </a:p>
          <a:p>
            <a:r>
              <a:rPr dirty="0"/>
              <a:t>professor-level shifts decomposes into individual review adjustments, each of which</a:t>
            </a:r>
          </a:p>
          <a:p>
            <a:r>
              <a:rPr dirty="0"/>
              <a:t>decomposes into specific clauses and emotions.</a:t>
            </a:r>
          </a:p>
          <a:p>
            <a:endParaRPr dirty="0"/>
          </a:p>
          <a:p>
            <a:r>
              <a:rPr dirty="0"/>
              <a:t>Be careful with the framing: these are the professors whose reviews contained the most</a:t>
            </a:r>
          </a:p>
          <a:p>
            <a:r>
              <a:rPr dirty="0"/>
              <a:t>off-topic emotional content. That is not the same as saying these are the professors most</a:t>
            </a:r>
          </a:p>
          <a:p>
            <a:r>
              <a:rPr dirty="0"/>
              <a:t>unfairly rated — that claim would require the ground truth we do not have.</a:t>
            </a:r>
          </a:p>
          <a:p>
            <a:endParaRPr dirty="0"/>
          </a:p>
          <a:p>
            <a:r>
              <a:rPr dirty="0"/>
              <a:t>Note the asymmetry: the largest downward correction (−0.94) exceeds the largest upward one</a:t>
            </a:r>
          </a:p>
          <a:p>
            <a:r>
              <a:rPr dirty="0"/>
              <a:t>(+0.66).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opener —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Mean |SHAP| contribution by category, baseline versus attenuated. The raw numbers</a:t>
            </a:r>
          </a:p>
          <a:p>
            <a:r>
              <a:t>behind the percentage-change chart.</a:t>
            </a:r>
          </a:p>
          <a:p>
            <a:endParaRPr/>
          </a:p>
          <a:p>
            <a:r>
              <a:t>  Instructional Effectiveness  1.109 → 1.131</a:t>
            </a:r>
          </a:p>
          <a:p>
            <a:r>
              <a:t>  Fairness                     0.188 → 0.193</a:t>
            </a:r>
          </a:p>
          <a:p>
            <a:r>
              <a:t>  Workload                     0.461 → 0.473</a:t>
            </a:r>
          </a:p>
          <a:p>
            <a:r>
              <a:t>  Miscellaneous                0.674 → 0.601</a:t>
            </a:r>
          </a:p>
          <a:p>
            <a:endParaRPr/>
          </a:p>
          <a:p>
            <a:r>
              <a:t>Miscellaneous falls; all three pedagogical categories rise. That is the direction we</a:t>
            </a:r>
          </a:p>
          <a:p>
            <a:r>
              <a:t>wanted, and it is the core internal-validation result.</a:t>
            </a:r>
          </a:p>
          <a:p>
            <a:endParaRPr/>
          </a:p>
          <a:p>
            <a:r>
              <a:t>Two honest observations. First, note that Miscellaneous at 0.674 baseline is the second</a:t>
            </a:r>
          </a:p>
          <a:p>
            <a:r>
              <a:t>largest bar on the chart — larger than Workload and Fairness combined. That is the RQ2</a:t>
            </a:r>
          </a:p>
          <a:p>
            <a:r>
              <a:t>finding in its starkest form. Second, even after attenuation Miscellaneous is still 0.601,</a:t>
            </a:r>
          </a:p>
          <a:p>
            <a:r>
              <a:t>so this is a reduction in influence, not an elimination of it.</a:t>
            </a:r>
          </a:p>
          <a:p>
            <a:endParaRPr/>
          </a:p>
          <a:p>
            <a:r>
              <a:t>Mechanical caveat if pressed: the pedagogical increases are partly redistribution — total</a:t>
            </a:r>
          </a:p>
          <a:p>
            <a:r>
              <a:t>importance is roughly conserved, so suppressing one category necessarily raises the</a:t>
            </a:r>
          </a:p>
          <a:p>
            <a:r>
              <a:t>others' relative share. The result to lean on is the direction and the asymmetry of</a:t>
            </a:r>
          </a:p>
          <a:p>
            <a:r>
              <a:t>magnitude, not the increase in isolation.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same result as percentage change: Miscellaneous −10.8%, Fairness +2.8%,</a:t>
            </a:r>
          </a:p>
          <a:p>
            <a:r>
              <a:t>Workload +2.6%, Instructional Effectiveness +2.0%.</a:t>
            </a:r>
          </a:p>
          <a:p>
            <a:endParaRPr/>
          </a:p>
          <a:p>
            <a:r>
              <a:t>One large negative, three modest positives. The asymmetry is the point — this is not a</a:t>
            </a:r>
          </a:p>
          <a:p>
            <a:r>
              <a:t>uniform rescaling, it is importance moving off one specific category and being absorbed</a:t>
            </a:r>
          </a:p>
          <a:p>
            <a:r>
              <a:t>across the other three.</a:t>
            </a:r>
          </a:p>
          <a:p>
            <a:endParaRPr/>
          </a:p>
          <a:p>
            <a:r>
              <a:t>Worth noting that Instructional Effectiveness gains the least in percentage terms despite</a:t>
            </a:r>
          </a:p>
          <a:p>
            <a:r>
              <a:t>being by far the largest category. It was already dominant; there was less headroom. The</a:t>
            </a:r>
          </a:p>
          <a:p>
            <a:r>
              <a:t>proportionally largest gains go to Fairness and Workload, the two categories that were</a:t>
            </a:r>
          </a:p>
          <a:p>
            <a:r>
              <a:t>being most crowded out by off-topic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Weighted percentage change in correlation magnitude after adjustment — Pearson and</a:t>
            </a:r>
          </a:p>
          <a:p>
            <a:r>
              <a:t>Spearman shown separately.</a:t>
            </a:r>
          </a:p>
          <a:p>
            <a:endParaRPr/>
          </a:p>
          <a:p>
            <a:r>
              <a:t>  Instructional Effectiveness  +1.2% Pearson, +0.9% Spearman</a:t>
            </a:r>
          </a:p>
          <a:p>
            <a:r>
              <a:t>  Fairness                     +1.2% Pearson, +0.4% Spearman</a:t>
            </a:r>
          </a:p>
          <a:p>
            <a:r>
              <a:t>  Workload                     +1.0% Pearson, +0.7% Spearman</a:t>
            </a:r>
          </a:p>
          <a:p>
            <a:r>
              <a:t>  Miscellaneous                −7.8% Pearson, −10.8% Spearman</a:t>
            </a:r>
          </a:p>
          <a:p>
            <a:endParaRPr/>
          </a:p>
          <a:p>
            <a:r>
              <a:t>This is the cleanest internal result in the deck, because both directions move</a:t>
            </a:r>
          </a:p>
          <a:p>
            <a:r>
              <a:t>simultaneously. Adjusted ratings correlate more strongly with pedagogical emotion and</a:t>
            </a:r>
          </a:p>
          <a:p>
            <a:r>
              <a:t>less strongly with off-topic emotion. A method that was simply adding noise would degrade</a:t>
            </a:r>
          </a:p>
          <a:p>
            <a:r>
              <a:t>both; a method that was simply shrinking everything would degrade both.</a:t>
            </a:r>
          </a:p>
          <a:p>
            <a:endParaRPr/>
          </a:p>
          <a:p>
            <a:r>
              <a:t>Note that Miscellaneous drops harder on Spearman (−10.8%) than Pearson (−7.8%) — the</a:t>
            </a:r>
          </a:p>
          <a:p>
            <a:r>
              <a:t>rank-order relationship weakens even more than the linear one, which is the more</a:t>
            </a:r>
          </a:p>
          <a:p>
            <a:r>
              <a:t>conservative of the two measures moving in the right direction.</a:t>
            </a:r>
          </a:p>
          <a:p>
            <a:endParaRPr/>
          </a:p>
          <a:p>
            <a:r>
              <a:t>Magnitudes are small. State that rather than letting someone else point it out — this is</a:t>
            </a:r>
          </a:p>
          <a:p>
            <a:r>
              <a:t>consistent with a fine-tuning mechanism, and it is why the paper's language is "tentative</a:t>
            </a:r>
          </a:p>
          <a:p>
            <a:r>
              <a:t>evidence" rather than a claim of validity.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Attenuation Δs against Miscellaneous density, split by direction, with point shading</a:t>
            </a:r>
          </a:p>
          <a:p>
            <a:r>
              <a:t>for emotional intensity.</a:t>
            </a:r>
          </a:p>
          <a:p>
            <a:endParaRPr/>
          </a:p>
          <a:p>
            <a:r>
              <a:t>Left panel, positive Δs (rating increased), shaded by negative emotional intensity:</a:t>
            </a:r>
          </a:p>
          <a:p>
            <a:r>
              <a:t>  vs D_misc — Pearson 0.6956, Spearman 0.6218</a:t>
            </a:r>
          </a:p>
          <a:p>
            <a:r>
              <a:t>  vs Neg. E_misc — Pearson 0.3600, Spearman 0.4185</a:t>
            </a:r>
          </a:p>
          <a:p>
            <a:endParaRPr/>
          </a:p>
          <a:p>
            <a:r>
              <a:t>Right panel, negative Δs (rating decreased), shaded by positive emotional intensity:</a:t>
            </a:r>
          </a:p>
          <a:p>
            <a:r>
              <a:t>  vs D_misc — Pearson −0.6966, Spearman −0.5607</a:t>
            </a:r>
          </a:p>
          <a:p>
            <a:r>
              <a:t>  vs Pos. E_misc — Pearson −0.2258, Spearman −0.1063</a:t>
            </a:r>
          </a:p>
          <a:p>
            <a:endParaRPr/>
          </a:p>
          <a:p>
            <a:r>
              <a:t>Read the scatters, not just the numbers. Both show a clear linear trend, and both show</a:t>
            </a:r>
          </a:p>
          <a:p>
            <a:r>
              <a:t>the variance fanning out as density increases — at low D_misc the adjustments are tightly</a:t>
            </a:r>
          </a:p>
          <a:p>
            <a:r>
              <a:t>clustered near zero; at high D_misc they range widely. Density sets the ceiling on how</a:t>
            </a:r>
          </a:p>
          <a:p>
            <a:r>
              <a:t>much a review can move; emotional intensity determines where within that range it lands.</a:t>
            </a:r>
          </a:p>
          <a:p>
            <a:r>
              <a:t>That is the mechanism behaving as designed.</a:t>
            </a:r>
          </a:p>
          <a:p>
            <a:endParaRPr/>
          </a:p>
          <a:p>
            <a:r>
              <a:t>The vertical stripe at exactly 1.0 in both panels is the collapse case — fully off-topic</a:t>
            </a:r>
          </a:p>
          <a:p>
            <a:r>
              <a:t>reviews, spread across the full range of Δ.</a:t>
            </a:r>
          </a:p>
          <a:p>
            <a:endParaRPr/>
          </a:p>
          <a:p>
            <a:r>
              <a:t>Now the caveat, and volunteer it rather than waiting: the strong D_misc correlations are</a:t>
            </a:r>
          </a:p>
          <a:p>
            <a:r>
              <a:t>partly true by construction, since D_misc drives ζ which drives Δ. What they establish is</a:t>
            </a:r>
          </a:p>
          <a:p>
            <a:r>
              <a:t>that the mechanism is systematic rather than arbitrary — not that it has found real noise.</a:t>
            </a:r>
          </a:p>
          <a:p>
            <a:r>
              <a:t>The Pearson–Spearman gap is a small tail of extreme reviews inflating the linear fit;</a:t>
            </a:r>
          </a:p>
          <a:p>
            <a:r>
              <a:t>Spearman is the conservative reading.</a:t>
            </a:r>
          </a:p>
          <a:p>
            <a:endParaRPr/>
          </a:p>
          <a:p>
            <a:r>
              <a:t>The asymmetry between panels is unexplained. The upward side tracks emotional intensity</a:t>
            </a:r>
          </a:p>
          <a:p>
            <a:r>
              <a:t>noticeably better (0.36/0.42) than the downward side (−0.23/−0.11). Flagged in the paper</a:t>
            </a:r>
          </a:p>
          <a:p>
            <a:r>
              <a:t>as warranting further investigation — say so if asked rather than improvising a reason.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External expert validation.</a:t>
            </a:r>
          </a:p>
          <a:p>
            <a:endParaRPr/>
          </a:p>
          <a:p>
            <a:r>
              <a:t>The full question: does the framework produce relative differences in adjustments between</a:t>
            </a:r>
          </a:p>
          <a:p>
            <a:r>
              <a:t>pairs of reviews that agree with a senior faculty expert's assessment of those same pairs?</a:t>
            </a:r>
          </a:p>
          <a:p>
            <a:endParaRPr/>
          </a:p>
          <a:p>
            <a:r>
              <a:t>Results by condition:</a:t>
            </a:r>
          </a:p>
          <a:p>
            <a:r>
              <a:t>  45 pairs — 40 correct, 3 unsure — accuracy 0.889, p &lt; 0.001</a:t>
            </a:r>
          </a:p>
          <a:p>
            <a:r>
              <a:t>  29 pairs — 22 correct, 1 unsure — accuracy 0.759, p &lt; 0.005</a:t>
            </a:r>
          </a:p>
          <a:p>
            <a:endParaRPr/>
          </a:p>
          <a:p>
            <a:r>
              <a:t>Why pairwise rather than absolute: there is no ground truth for how much a given rating</a:t>
            </a:r>
          </a:p>
          <a:p>
            <a:r>
              <a:t>*should* move, so asking an expert to validate a magnitude is unanswerable. Asking which</a:t>
            </a:r>
          </a:p>
          <a:p>
            <a:r>
              <a:t>of two reviews deserves the larger correction is answerable. The cost of that design is</a:t>
            </a:r>
          </a:p>
          <a:p>
            <a:r>
              <a:t>that it tests direction only, never magnitude — which is why it appears in Limitations.</a:t>
            </a:r>
          </a:p>
          <a:p>
            <a:endParaRPr/>
          </a:p>
          <a:p>
            <a:r>
              <a:t>Single annotator. State it before someone 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opener —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Reminder of the three research questions before answering them in turn.</a:t>
            </a:r>
          </a:p>
          <a:p>
            <a:endParaRPr/>
          </a:p>
          <a:p>
            <a:r>
              <a:t>RQ1 — How does emotional content in pedagogical comments contribute to SET ratings?</a:t>
            </a:r>
          </a:p>
          <a:p>
            <a:r>
              <a:t>RQ2 — To what extent does emotional content in pedagogically irrelevant comments</a:t>
            </a:r>
          </a:p>
          <a:p>
            <a:r>
              <a:t>contribute to SET ratings?</a:t>
            </a:r>
          </a:p>
          <a:p>
            <a:r>
              <a:t>RQ3 — Can emotional attenuation of irrelevant comments mitigate affective noise while</a:t>
            </a:r>
          </a:p>
          <a:p>
            <a:r>
              <a:t>preserving pedagogical signal?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RQ1 — answered.</a:t>
            </a:r>
          </a:p>
          <a:p>
            <a:endParaRPr/>
          </a:p>
          <a:p>
            <a:r>
              <a:t>There is a clear relationship between pedagogical feedback and numerical ratings, and</a:t>
            </a:r>
          </a:p>
          <a:p>
            <a:r>
              <a:t>Instructional Effectiveness dominates on every measure:</a:t>
            </a:r>
          </a:p>
          <a:p>
            <a:endParaRPr/>
          </a:p>
          <a:p>
            <a:r>
              <a:t>- Most frequent pedagogical topic.</a:t>
            </a:r>
          </a:p>
          <a:p>
            <a:r>
              <a:t>- Most elaborated — 1.92 clauses per review on average, the highest of any category.</a:t>
            </a:r>
          </a:p>
          <a:p>
            <a:r>
              <a:t>  Students write more about it when they write about it at all.</a:t>
            </a:r>
          </a:p>
          <a:p>
            <a:r>
              <a:t>- Strongest emotional intensities when mentioned.</a:t>
            </a:r>
          </a:p>
          <a:p>
            <a:r>
              <a:t>- Highest mean SHAP value of any topic.</a:t>
            </a:r>
          </a:p>
          <a:p>
            <a:endParaRPr/>
          </a:p>
          <a:p>
            <a:r>
              <a:t>In the baseline SHAP ranking, Positive Instructional Effectiveness is the single largest</a:t>
            </a:r>
          </a:p>
          <a:p>
            <a:r>
              <a:t>driver of predicted ratings, with Negative Instructional Effectiveness second.</a:t>
            </a:r>
          </a:p>
          <a:p>
            <a:endParaRPr/>
          </a:p>
          <a:p>
            <a:r>
              <a:t>Workload is the second most frequent pedagogical topic but contributes more variably.</a:t>
            </a:r>
          </a:p>
          <a:p>
            <a:r>
              <a:t>Fairness is less frequent overall but behaves distinctively in low-rating contexts.</a:t>
            </a:r>
          </a:p>
          <a:p>
            <a:endParaRPr/>
          </a:p>
          <a:p>
            <a:r>
              <a:t>So: emotional response to pedagogical topics — Instructional Effectiveness above all — is</a:t>
            </a:r>
          </a:p>
          <a:p>
            <a:r>
              <a:t>a primary systematic driver of rating variation. That answers RQ1.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RQ2 — answered.</a:t>
            </a:r>
          </a:p>
          <a:p>
            <a:endParaRPr/>
          </a:p>
          <a:p>
            <a:r>
              <a:t>Two rankings here, and they are different numbers for different things — be explicit or</a:t>
            </a:r>
          </a:p>
          <a:p>
            <a:r>
              <a:t>the audience will think one is a mistake:</a:t>
            </a:r>
          </a:p>
          <a:p>
            <a:endParaRPr/>
          </a:p>
          <a:p>
            <a:r>
              <a:t>  - As a *category*, Miscellaneous ranks 2nd overall, behind only Instructional</a:t>
            </a:r>
          </a:p>
          <a:p>
            <a:r>
              <a:t>    Effectiveness (mean SHAP 0.671 for E_misc).</a:t>
            </a:r>
          </a:p>
          <a:p>
            <a:r>
              <a:t>  - As an individual *feature*, Negative Miscellaneous ranks 3rd, behind Positive and</a:t>
            </a:r>
          </a:p>
          <a:p>
            <a:r>
              <a:t>    Negative Instructional Effectiveness — and above both polarities of Fairness and</a:t>
            </a:r>
          </a:p>
          <a:p>
            <a:r>
              <a:t>    Workload. Positive Miscellaneous ranks 5th, so it pushes in both directions.</a:t>
            </a:r>
          </a:p>
          <a:p>
            <a:endParaRPr/>
          </a:p>
          <a:p>
            <a:r>
              <a:t>Miscellaneous is also simply everywhere. It is the most frequent clause category in</a:t>
            </a:r>
          </a:p>
          <a:p>
            <a:r>
              <a:t>1-star reviews, occurring roughly 27% more often than the next most common topic there.</a:t>
            </a:r>
          </a:p>
          <a:p>
            <a:r>
              <a:t>D_misc across the corpus has a median of 0.11 but a heavy right tail — off-topic content</a:t>
            </a:r>
          </a:p>
          <a:p>
            <a:r>
              <a:t>is a recurring structural feature of informal SET, not an occasional aberration.</a:t>
            </a:r>
          </a:p>
          <a:p>
            <a:endParaRPr/>
          </a:p>
          <a:p>
            <a:r>
              <a:t>And it contaminates the entire scale, in two different ways:</a:t>
            </a:r>
          </a:p>
          <a:p>
            <a:r>
              <a:t>  - High ratings: large absolute off-topic noise, but the pedagogical signal is strong</a:t>
            </a:r>
          </a:p>
          <a:p>
            <a:r>
              <a:t>    enough that signal-to-noise stays favourable.</a:t>
            </a:r>
          </a:p>
          <a:p>
            <a:r>
              <a:t>  - Low ratings: smaller absolute emotional contributions overall, but Miscellaneous</a:t>
            </a:r>
          </a:p>
          <a:p>
            <a:r>
              <a:t>    makes up a proportionally larger share of what is there.</a:t>
            </a:r>
          </a:p>
          <a:p>
            <a:endParaRPr/>
          </a:p>
          <a:p>
            <a:r>
              <a:t>Either way there is no safe region of the scale. This aligns with Messick's (1995)</a:t>
            </a:r>
          </a:p>
          <a:p>
            <a:r>
              <a:t>construct-irrelevant variance, and with Dowell &amp; Neal (1983) and Wongsurawat (2011) on</a:t>
            </a:r>
          </a:p>
          <a:p>
            <a:r>
              <a:t>SET capturing satisfaction rather than instruction.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RQ3 — answered, tentatively.</a:t>
            </a:r>
          </a:p>
          <a:p>
            <a:endParaRPr/>
          </a:p>
          <a:p>
            <a:r>
              <a:t>First, the model is worth trusting: ρ = 0.7355, R² = 0.6140. Ratings are not arbitrary;</a:t>
            </a:r>
          </a:p>
          <a:p>
            <a:r>
              <a:t>they are a predictable function of topic-level emotion.</a:t>
            </a:r>
          </a:p>
          <a:p>
            <a:endParaRPr/>
          </a:p>
          <a:p>
            <a:r>
              <a:t>Importance shift after attenuation — SHAP-based feature importance moves off Miscellaneous</a:t>
            </a:r>
          </a:p>
          <a:p>
            <a:r>
              <a:t>(−10.8%) and onto the pedagogical categories: Instructional Effectiveness +2.0%,</a:t>
            </a:r>
          </a:p>
          <a:p>
            <a:r>
              <a:t>Fairness +2.7%, Workload +2.6%. When the construct-irrelevant signal is suppressed, the</a:t>
            </a:r>
          </a:p>
          <a:p>
            <a:r>
              <a:t>model leans harder on pedagogy.</a:t>
            </a:r>
          </a:p>
          <a:p>
            <a:endParaRPr/>
          </a:p>
          <a:p>
            <a:r>
              <a:t>Statistical separation — attenuated ratings maintain or strengthen correlations with</a:t>
            </a:r>
          </a:p>
          <a:p>
            <a:r>
              <a:t>pedagogical emotion (E_eff, E_fair, E_work) while reducing correlation with E_misc. Both</a:t>
            </a:r>
          </a:p>
          <a:p>
            <a:r>
              <a:t>directions move the right way at once, which is the result that suggests the mechanism is</a:t>
            </a:r>
          </a:p>
          <a:p>
            <a:r>
              <a:t>doing what it claims.</a:t>
            </a:r>
          </a:p>
          <a:p>
            <a:endParaRPr/>
          </a:p>
          <a:p>
            <a:r>
              <a:t>Magnitude — mean absolute rating change is 0.2072 points, with a tail of larger targeted</a:t>
            </a:r>
          </a:p>
          <a:p>
            <a:r>
              <a:t>corrections for reviews combining high density with intense off-topic polarization. At the</a:t>
            </a:r>
          </a:p>
          <a:p>
            <a:r>
              <a:t>professor level the distribution shape is largely preserved. This is fine-tuning, not</a:t>
            </a:r>
          </a:p>
          <a:p>
            <a:r>
              <a:t>wholesale rewriting — the conservative correction Marsh &amp; Roche argue for.</a:t>
            </a:r>
          </a:p>
          <a:p>
            <a:endParaRPr/>
          </a:p>
          <a:p>
            <a:r>
              <a:t>Coherence — Δ⁺/Δ⁻ against D_misc gives r = 0.696 / −0.697. Say the caveat out loud rather</a:t>
            </a:r>
          </a:p>
          <a:p>
            <a:r>
              <a:t>than waiting to be caught: this is partly true by construction, because D_misc drives ζ</a:t>
            </a:r>
          </a:p>
          <a:p>
            <a:r>
              <a:t>directly. It demonstrates the mechanism is systematic, not that it has found real noise.</a:t>
            </a:r>
          </a:p>
          <a:p>
            <a:r>
              <a:t>Spearman is lower (0.622 / −0.561) because a small tail of extreme reviews inflates the</a:t>
            </a:r>
          </a:p>
          <a:p>
            <a:r>
              <a:t>linear fit.</a:t>
            </a:r>
          </a:p>
          <a:p>
            <a:endParaRPr/>
          </a:p>
          <a:p>
            <a:r>
              <a:t>Plus preliminary agreement with expert judgment. Together this addresses RQ3 — with</a:t>
            </a:r>
          </a:p>
          <a:p>
            <a:r>
              <a:t>"tentative" doing real work in that sentence.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B599D7-501F-4F94-B444-6C5FB4DEA5EF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86087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The design argument, not the results argument.</a:t>
            </a:r>
          </a:p>
          <a:p>
            <a:endParaRPr dirty="0"/>
          </a:p>
          <a:p>
            <a:r>
              <a:rPr dirty="0"/>
              <a:t>Theory into mechanism: Messick (1995) supplies the construct-irrelevant variance framing,</a:t>
            </a:r>
          </a:p>
          <a:p>
            <a:r>
              <a:rPr dirty="0"/>
              <a:t>Huber (1964) justifies bounded-influence weighting over deletion, Cronbach (1951)</a:t>
            </a:r>
          </a:p>
          <a:p>
            <a:r>
              <a:rPr dirty="0"/>
              <a:t>justifies reducing error variance rather than removing observations. Each is a concrete</a:t>
            </a:r>
          </a:p>
          <a:p>
            <a:r>
              <a:rPr dirty="0"/>
              <a:t>design decision in the pipeline, not a decorative citation.</a:t>
            </a:r>
          </a:p>
          <a:p>
            <a:endParaRPr dirty="0"/>
          </a:p>
          <a:p>
            <a:r>
              <a:rPr dirty="0"/>
              <a:t>Interpretability as a constraint, not a feature: every adjustment traces back through</a:t>
            </a:r>
          </a:p>
          <a:p>
            <a:r>
              <a:rPr dirty="0"/>
              <a:t>clause → category → emotion → density. The model is held fixed and a targeted intervention</a:t>
            </a:r>
          </a:p>
          <a:p>
            <a:r>
              <a:rPr dirty="0"/>
              <a:t>is applied, so the prediction difference is attributable. The worked examples in the paper</a:t>
            </a:r>
          </a:p>
          <a:p>
            <a:r>
              <a:rPr dirty="0"/>
              <a:t>show a full trace for individual reviews.</a:t>
            </a:r>
          </a:p>
          <a:p>
            <a:endParaRPr dirty="0"/>
          </a:p>
          <a:p>
            <a:r>
              <a:rPr dirty="0"/>
              <a:t>The counterfactual makes the case. With aggregate sentiment instead of topic-level</a:t>
            </a:r>
          </a:p>
          <a:p>
            <a:r>
              <a:rPr dirty="0"/>
              <a:t>extraction you would lose three things: predictive accuracy, proportional scaling (you</a:t>
            </a:r>
          </a:p>
          <a:p>
            <a:r>
              <a:rPr dirty="0"/>
              <a:t>could only apply a blanket dampening factor), and — most importantly — the ability to say</a:t>
            </a:r>
          </a:p>
          <a:p>
            <a:r>
              <a:rPr dirty="0"/>
              <a:t>*which* emotion drove an adjustment. Swapping in LLMs or deep networks might buy marginal</a:t>
            </a:r>
          </a:p>
          <a:p>
            <a:r>
              <a:rPr dirty="0"/>
              <a:t>component-level performance at the cost of the audit trail. In a consequential evaluation</a:t>
            </a:r>
          </a:p>
          <a:p>
            <a:r>
              <a:rPr dirty="0"/>
              <a:t>setting that is the wrong trade.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B599D7-501F-4F94-B444-6C5FB4DEA5EF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29413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Practical implications.</a:t>
            </a:r>
          </a:p>
          <a:p>
            <a:endParaRPr/>
          </a:p>
          <a:p>
            <a:r>
              <a:t>For informal platforms like RMP: a mechanism to make displayed ratings more trustworthy.</a:t>
            </a:r>
          </a:p>
          <a:p>
            <a:r>
              <a:t>Adjusted scores could be a better signal for students choosing courses, and topic-level</a:t>
            </a:r>
          </a:p>
          <a:p>
            <a:r>
              <a:t>breakdowns would let a reader distinguish a Fairness complaint from a Workload complaint</a:t>
            </a:r>
          </a:p>
          <a:p>
            <a:r>
              <a:t>instead of collapsing both into one number.</a:t>
            </a:r>
          </a:p>
          <a:p>
            <a:endParaRPr/>
          </a:p>
          <a:p>
            <a:r>
              <a:t>For institutions: a direction for validity-aware processing of formal SET data — with the</a:t>
            </a:r>
          </a:p>
          <a:p>
            <a:r>
              <a:t>caveat that this is proof-of-concept and would need substantially more validation before</a:t>
            </a:r>
          </a:p>
          <a:p>
            <a:r>
              <a:t>any consequential use.</a:t>
            </a:r>
          </a:p>
          <a:p>
            <a:endParaRPr/>
          </a:p>
          <a:p>
            <a:r>
              <a:t>For faculty development: the topic-level analysis is diagnostic. Instructional</a:t>
            </a:r>
          </a:p>
          <a:p>
            <a:r>
              <a:t>Effectiveness dominating suggests where instructional investment pays off; Fairness being</a:t>
            </a:r>
          </a:p>
          <a:p>
            <a:r>
              <a:t>over-represented in low-rating reviews flags grading and equitable treatment as a</a:t>
            </a:r>
          </a:p>
          <a:p>
            <a:r>
              <a:t>high-impact concern.</a:t>
            </a:r>
          </a:p>
          <a:p>
            <a:endParaRPr/>
          </a:p>
          <a:p>
            <a:r>
              <a:t>For other domains: the category descriptions are the only domain-specific component, so</a:t>
            </a:r>
          </a:p>
          <a:p>
            <a:r>
              <a:t>the framework transfers by rewriting them — healthcare satisfaction surveys, product</a:t>
            </a:r>
          </a:p>
          <a:p>
            <a:r>
              <a:t>reviews, employee performance feedback (Pelaez et al. 2026; Lim &amp; Tucker 2017;</a:t>
            </a:r>
          </a:p>
          <a:p>
            <a:r>
              <a:t>Gaye et al. 2021).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B599D7-501F-4F94-B444-6C5FB4DEA5EF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5872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joke slide — then take the limitations seriously.</a:t>
            </a:r>
          </a:p>
          <a:p>
            <a:endParaRPr/>
          </a:p>
          <a:p>
            <a:r>
              <a:t>Deliver it, get the laugh, then land the turn: the fact that we can enumerate the failure</a:t>
            </a:r>
          </a:p>
          <a:p>
            <a:r>
              <a:t>modes this precisely is the point of building an interpretable system rather than a</a:t>
            </a:r>
          </a:p>
          <a:p>
            <a:r>
              <a:t>black 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Limitations, part one.</a:t>
            </a:r>
          </a:p>
          <a:p>
            <a:endParaRPr/>
          </a:p>
          <a:p>
            <a:r>
              <a:t>No ground truth for teaching quality — the fundamental one. Internal consistency,</a:t>
            </a:r>
          </a:p>
          <a:p>
            <a:r>
              <a:t>improved signal-to-noise, and expert alignment are all indirect evidence. None of them</a:t>
            </a:r>
          </a:p>
          <a:p>
            <a:r>
              <a:t>prove adjusted ratings better reflect true teaching quality. Establishing criterion</a:t>
            </a:r>
          </a:p>
          <a:p>
            <a:r>
              <a:t>validity would need external benchmarks — learning outcomes, peer evaluation, longitudinal</a:t>
            </a:r>
          </a:p>
          <a:p>
            <a:r>
              <a:t>performance — none of which exist for RMP. So: a method for reducing noise, not a</a:t>
            </a:r>
          </a:p>
          <a:p>
            <a:r>
              <a:t>definitive correction toward truth.</a:t>
            </a:r>
          </a:p>
          <a:p>
            <a:endParaRPr/>
          </a:p>
          <a:p>
            <a:r>
              <a:t>One platform, one corpus — RMP is anonymous, unmoderated, self-selected, and 5-star</a:t>
            </a:r>
          </a:p>
          <a:p>
            <a:r>
              <a:t>skewed. Formal SET instruments differ in structure, administration, and respondent</a:t>
            </a:r>
          </a:p>
          <a:p>
            <a:r>
              <a:t>motivation. Generalization is untested. Also: clause segmentation is imperfect, since</a:t>
            </a:r>
          </a:p>
          <a:p>
            <a:r>
              <a:t>irregular punctuation and multi-clause sentences defeat the spaCy splitter.</a:t>
            </a:r>
          </a:p>
          <a:p>
            <a:endParaRPr/>
          </a:p>
          <a:p>
            <a:r>
              <a:t>Preliminary expert validation — a single annotator. Subjectivity enters, and the results</a:t>
            </a:r>
          </a:p>
          <a:p>
            <a:r>
              <a:t>are contingent on one individual's judgment. Generalizability cannot be strongly claimed.</a:t>
            </a:r>
          </a:p>
          <a:p>
            <a:endParaRPr/>
          </a:p>
          <a:p>
            <a:r>
              <a:t>Direction, not magnitude — the pairwise design tests whether relative adjustments agree</a:t>
            </a:r>
          </a:p>
          <a:p>
            <a:r>
              <a:t>with expert judgment. Large Δs align well; smaller differences are less reliably captured.</a:t>
            </a:r>
          </a:p>
          <a:p>
            <a:r>
              <a:t>It says nothing about whether any specific adjustment is the right size.</a:t>
            </a:r>
          </a:p>
          <a:p>
            <a:endParaRPr/>
          </a:p>
          <a:p>
            <a:r>
              <a:t>Errors cascade — ATC accuracy feeds D_misc accuracy, which feeds Δ, which feeds final</a:t>
            </a:r>
          </a:p>
          <a:p>
            <a:r>
              <a:t>adjustment validity. External validation only tested the final output under controlled</a:t>
            </a:r>
          </a:p>
          <a:p>
            <a:r>
              <a:t>upstream conditions, so upstream error is not fully accounted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Limitations, part two — mostly component-level.</a:t>
            </a:r>
          </a:p>
          <a:p>
            <a:endParaRPr dirty="0"/>
          </a:p>
          <a:p>
            <a:r>
              <a:rPr dirty="0"/>
              <a:t>ATC is broad and single-label — informally defined categories, one label per clause even</a:t>
            </a:r>
          </a:p>
          <a:p>
            <a:r>
              <a:rPr dirty="0"/>
              <a:t>when several apply. Multi-topic clauses get forced into one bucket. Acceptable for</a:t>
            </a:r>
          </a:p>
          <a:p>
            <a:r>
              <a:rPr dirty="0"/>
              <a:t>zero-shot, but there is room.</a:t>
            </a:r>
          </a:p>
          <a:p>
            <a:endParaRPr dirty="0"/>
          </a:p>
          <a:p>
            <a:r>
              <a:rPr dirty="0" err="1"/>
              <a:t>RoBERTa-GoEmotions</a:t>
            </a:r>
            <a:r>
              <a:rPr dirty="0"/>
              <a:t> trained on Reddit — not on student reviews. Sarcasm and academic idiom</a:t>
            </a:r>
          </a:p>
          <a:p>
            <a:r>
              <a:rPr dirty="0"/>
              <a:t>get misread, and sarcasm is common in low-rating SET text.</a:t>
            </a:r>
          </a:p>
          <a:p>
            <a:endParaRPr dirty="0"/>
          </a:p>
          <a:p>
            <a:r>
              <a:rPr dirty="0"/>
              <a:t>Collapse point at </a:t>
            </a:r>
            <a:r>
              <a:rPr dirty="0" err="1"/>
              <a:t>D_misc</a:t>
            </a:r>
            <a:r>
              <a:rPr dirty="0"/>
              <a:t> = 1 — when Miscellaneous is the only topic present, emotions are</a:t>
            </a:r>
          </a:p>
          <a:p>
            <a:r>
              <a:rPr dirty="0"/>
              <a:t>fully down-weighted and different reviews produce identical feature vectors. The model</a:t>
            </a:r>
          </a:p>
          <a:p>
            <a:r>
              <a:rPr dirty="0"/>
              <a:t>then returns the same attenuated rating for all of them.</a:t>
            </a:r>
          </a:p>
          <a:p>
            <a:endParaRPr dirty="0"/>
          </a:p>
          <a:p>
            <a:r>
              <a:rPr dirty="0"/>
              <a:t>Neutral-but-off-topic is invisible — the framework attenuates emotion. A review that is</a:t>
            </a:r>
          </a:p>
          <a:p>
            <a:r>
              <a:rPr dirty="0"/>
              <a:t>entirely off-topic but emotionally flat has nothing to attenuate and passes through</a:t>
            </a:r>
          </a:p>
          <a:p>
            <a:r>
              <a:rPr dirty="0"/>
              <a:t>untouched, despite being exactly the kind of content we would want to discount.</a:t>
            </a:r>
          </a:p>
          <a:p>
            <a:endParaRPr dirty="0"/>
          </a:p>
          <a:p>
            <a:r>
              <a:rPr dirty="0"/>
              <a:t>Just one </a:t>
            </a:r>
            <a:r>
              <a:rPr dirty="0" err="1"/>
              <a:t>flavour</a:t>
            </a:r>
            <a:r>
              <a:rPr dirty="0"/>
              <a:t> of noise — this addresses construct-irrelevant *emotional* content only.</a:t>
            </a:r>
          </a:p>
          <a:p>
            <a:r>
              <a:rPr dirty="0"/>
              <a:t>It does not touch grading leniency, course difficulty, or demographic bias. Worth being</a:t>
            </a:r>
          </a:p>
          <a:p>
            <a:r>
              <a:rPr dirty="0"/>
              <a:t>direct here: the dataset contained demographic information that was not used, so adjusted</a:t>
            </a:r>
          </a:p>
          <a:p>
            <a:r>
              <a:rPr dirty="0"/>
              <a:t>scores may still carry whatever gender or racial inequities are present in the raw data.</a:t>
            </a:r>
          </a:p>
          <a:p>
            <a:endParaRPr dirty="0"/>
          </a:p>
          <a:p>
            <a:r>
              <a:rPr dirty="0"/>
              <a:t>Efficiency-first choices cap the ceiling — compact zero-shot ATC model, INT8 quantized</a:t>
            </a:r>
          </a:p>
          <a:p>
            <a:r>
              <a:rPr dirty="0" err="1"/>
              <a:t>RoBERTa</a:t>
            </a:r>
            <a:r>
              <a:rPr dirty="0"/>
              <a:t>, lightweight regression. All chosen for throughput, all leaving performance on the</a:t>
            </a:r>
          </a:p>
          <a:p>
            <a:r>
              <a:rPr dirty="0"/>
              <a:t>table.</a:t>
            </a:r>
          </a:p>
          <a:p>
            <a:endParaRPr dirty="0"/>
          </a:p>
          <a:p>
            <a:r>
              <a:rPr dirty="0"/>
              <a:t>Also, if asked about hyperparameters: results may be sensitive to empirically selected</a:t>
            </a:r>
          </a:p>
          <a:p>
            <a:r>
              <a:rPr dirty="0"/>
              <a:t>thresholds throughout ATC, regression, and attenuation. The exponent s in particular is</a:t>
            </a:r>
          </a:p>
          <a:p>
            <a:r>
              <a:rPr dirty="0"/>
              <a:t>weakly identified — resampling selects values from 0.23 to 0.94 — though downstream</a:t>
            </a:r>
          </a:p>
          <a:p>
            <a:r>
              <a:rPr dirty="0"/>
              <a:t>adjustments stay stable across that range at r &gt; 0.96.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opener — Conclusion.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whole pipeline in one line: decompose the review into clauses, extract</a:t>
            </a:r>
          </a:p>
          <a:p>
            <a:r>
              <a:t>clause-level emotion, down-weight off-topic content proportionally to its density,</a:t>
            </a:r>
          </a:p>
          <a:p>
            <a:r>
              <a:t>re-predict, and adjust the original rating by the difference.</a:t>
            </a:r>
          </a:p>
          <a:p>
            <a:endParaRPr/>
          </a:p>
          <a:p>
            <a:r>
              <a:t>Worth pausing on "proportionally" — that is the word carrying the argument from the</a:t>
            </a:r>
          </a:p>
          <a:p>
            <a:r>
              <a:t>Huber slide. Nothing is deleted, nothing is zeroed except in the degenerate case, and the</a:t>
            </a:r>
          </a:p>
          <a:p>
            <a:r>
              <a:t>student's rating survives as the starting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B599D7-501F-4F94-B444-6C5FB4DEA5EF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145117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Three contributions.</a:t>
            </a:r>
          </a:p>
          <a:p>
            <a:endParaRPr/>
          </a:p>
          <a:p>
            <a:r>
              <a:t>Intervene, don't just detect — prior computational SET work is largely descriptive:</a:t>
            </a:r>
          </a:p>
          <a:p>
            <a:r>
              <a:t>identify sentiment, characterise bias, report it. This framework acts on the rating. That</a:t>
            </a:r>
          </a:p>
          <a:p>
            <a:r>
              <a:t>is the gap it fills.</a:t>
            </a:r>
          </a:p>
          <a:p>
            <a:endParaRPr/>
          </a:p>
          <a:p>
            <a:r>
              <a:t>Psychometric theory made computational — Messick's construct-irrelevant variance, Huber's</a:t>
            </a:r>
          </a:p>
          <a:p>
            <a:r>
              <a:t>bounded-influence estimation, and Cronbach's error-variance framing translated into a</a:t>
            </a:r>
          </a:p>
          <a:p>
            <a:r>
              <a:t>concrete mechanism rather than cited as background.</a:t>
            </a:r>
          </a:p>
          <a:p>
            <a:endParaRPr/>
          </a:p>
          <a:p>
            <a:r>
              <a:t>Every adjustment is auditable — each rating change traces to specific topic-level emotions</a:t>
            </a:r>
          </a:p>
          <a:p>
            <a:r>
              <a:t>and a measured content density. An administrator can inspect why any individual review</a:t>
            </a:r>
          </a:p>
          <a:p>
            <a:r>
              <a:t>moved, which is a precondition for use in any consequential setting (Doshi-Velez &amp; Kim,</a:t>
            </a:r>
          </a:p>
          <a:p>
            <a:r>
              <a:t>2017).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B599D7-501F-4F94-B444-6C5FB4DEA5EF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716686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honest scoping statement — say this plainly rather than hedging.</a:t>
            </a:r>
          </a:p>
          <a:p>
            <a:endParaRPr/>
          </a:p>
          <a:p>
            <a:r>
              <a:t>What the evidence supports: proof-of-concept noise reduction. Feature importance moves off</a:t>
            </a:r>
          </a:p>
          <a:p>
            <a:r>
              <a:t>construct-irrelevant content and onto pedagogy, correlations separate in the right</a:t>
            </a:r>
          </a:p>
          <a:p>
            <a:r>
              <a:t>directions, and relative adjustments agree with expert judgment above chance.</a:t>
            </a:r>
          </a:p>
          <a:p>
            <a:endParaRPr/>
          </a:p>
          <a:p>
            <a:r>
              <a:t>What it does not support: that adjusted ratings are a validated measure of teaching</a:t>
            </a:r>
          </a:p>
          <a:p>
            <a:r>
              <a:t>quality. Without ground truth that claim cannot be made, and I am not making it.</a:t>
            </a:r>
          </a:p>
          <a:p>
            <a:endParaRPr/>
          </a:p>
          <a:p>
            <a:r>
              <a:t>Possibly extendable to formal SET systems — with the emphasis on possibly, and only after</a:t>
            </a:r>
          </a:p>
          <a:p>
            <a:r>
              <a:t>the validation work in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Future work.</a:t>
            </a:r>
          </a:p>
          <a:p>
            <a:endParaRPr/>
          </a:p>
          <a:p>
            <a:r>
              <a:t>Formal SET corpora — structured prompts and standardized scales would likely lower the</a:t>
            </a:r>
          </a:p>
          <a:p>
            <a:r>
              <a:t>Miscellaneous baseline and require recalibrating attenuation parameters. Multilingual</a:t>
            </a:r>
          </a:p>
          <a:p>
            <a:r>
              <a:t>support would extend reach beyond English-language contexts.</a:t>
            </a:r>
          </a:p>
          <a:p>
            <a:endParaRPr/>
          </a:p>
          <a:p>
            <a:r>
              <a:t>Alternative stage implementations — better clause segmentation, RoBERTa fine-tuned on</a:t>
            </a:r>
          </a:p>
          <a:p>
            <a:r>
              <a:t>student review text, smarter aggregation than simple averaging, richer non-affective</a:t>
            </a:r>
          </a:p>
          <a:p>
            <a:r>
              <a:t>features so that emotionally neutral reviews remain distinguishable. Benchmarking against</a:t>
            </a:r>
          </a:p>
          <a:p>
            <a:r>
              <a:t>LLM approaches to quantify what transparency actually costs in performance terms.</a:t>
            </a:r>
          </a:p>
          <a:p>
            <a:endParaRPr/>
          </a:p>
          <a:p>
            <a:r>
              <a:t>More robust attenuation — a density metric grounded in semantic relevance rather than word</a:t>
            </a:r>
          </a:p>
          <a:p>
            <a:r>
              <a:t>share, fallback handling for the D_misc = 1 collapse, and extension to other CIV sources</a:t>
            </a:r>
          </a:p>
          <a:p>
            <a:r>
              <a:t>including demographic bias.</a:t>
            </a:r>
          </a:p>
          <a:p>
            <a:endParaRPr/>
          </a:p>
          <a:p>
            <a:r>
              <a:t>Multiple experts — the single-annotator limitation is the cheapest one to fix.</a:t>
            </a:r>
          </a:p>
          <a:p>
            <a:endParaRPr/>
          </a:p>
          <a:p>
            <a:r>
              <a:t>An external criterion — peer evaluations, teaching portfolios, learning outcomes. Do</a:t>
            </a:r>
          </a:p>
          <a:p>
            <a:r>
              <a:t>attenuated ratings correlate better with these than raw ratings do? That is the test that</a:t>
            </a:r>
          </a:p>
          <a:p>
            <a:r>
              <a:t>would move this from noise reduction to validity improvement.</a:t>
            </a:r>
          </a:p>
          <a:p>
            <a:endParaRPr/>
          </a:p>
          <a:p>
            <a:r>
              <a:t>Fairness audits — verify the framework does not amplify existing inequities across</a:t>
            </a:r>
          </a:p>
          <a:p>
            <a:r>
              <a:t>instructor demographics and disciplines.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Closing line — deliver it and stop.</a:t>
            </a:r>
          </a:p>
          <a:p>
            <a:endParaRPr/>
          </a:p>
          <a:p>
            <a:r>
              <a:t>Validity concerns in large-scale informal SET data can be addressed computationally</a:t>
            </a:r>
          </a:p>
          <a:p>
            <a:r>
              <a:t>without sacrificing interpretability and without discarding student voice. Both halves</a:t>
            </a:r>
          </a:p>
          <a:p>
            <a:r>
              <a:t>matter: the deletion-based alternatives throw away real feedback, and the black-box</a:t>
            </a:r>
          </a:p>
          <a:p>
            <a:r>
              <a:t>alternatives cannot explain themselves in a setting where explanation is a requirement.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Acknowledgements — AMMCS participants and staff, Professor Somayeh Fatahi,</a:t>
            </a:r>
          </a:p>
          <a:p>
            <a:r>
              <a:t>my father, the senior faculty experts who provided validation judgments, and the Laurier</a:t>
            </a:r>
          </a:p>
          <a:p>
            <a:r>
              <a:t>Research Ethics 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FAC40-E47B-970F-607E-EC8E5AEB8C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301384-6422-6045-5E92-77F1828F20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03342E-6C70-57A0-8DCB-32F278E45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4316B-64AA-40B5-9952-441143FFA226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E66DF1-A6A0-B316-5315-43AD0FBF8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224F02-1692-F113-E6AC-8A68C14E9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00C4F-2766-4FD1-8E55-71B308091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92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C3900-846E-CE09-A2DD-0E7127801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AA02F-7287-AE5B-C8E0-ACCE41CE8D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F5BF5-A963-2CA4-4A47-31648CFD2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4316B-64AA-40B5-9952-441143FFA226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AE131F-47CD-7431-742F-35EDCC54F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224700-B3E1-C959-BC24-F2DFC77AB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00C4F-2766-4FD1-8E55-71B308091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830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BAC40-2AC1-6683-7948-CA7E690E4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990723-D3FB-E140-FA58-365BC2CFB1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89FDCA-1349-94B4-5A39-CA55C1F04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4316B-64AA-40B5-9952-441143FFA226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3B1A7D-0338-D3E6-4D44-DE75FAC5D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408B5D-4795-E70A-6976-285DB1568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00C4F-2766-4FD1-8E55-71B308091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145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06E54-B67C-29F8-9A1D-7B2095949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A89DD-B7DA-1164-B567-AE751F91D7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A49355-179D-0258-941C-F95FDBCE4A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25879F-092A-A3E0-B086-74DAA931C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4316B-64AA-40B5-9952-441143FFA226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F45397-F235-C655-4C9E-D1C958EDC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D1A187-B6D6-D22D-E410-C2A902E35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00C4F-2766-4FD1-8E55-71B308091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257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8CDD7-4A40-43BD-1C51-0687BA9DC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A7D9F0-DE4F-3860-AB2D-5D4081863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E49A55-7B17-1263-9344-4717263724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BE2CE8-6A0E-BCEB-6ED0-74A282E793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37F4F5-271D-205A-774F-53C821BCC1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1E28A5-8C04-417E-D14F-4FB022F1D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4316B-64AA-40B5-9952-441143FFA226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D6F5C4-C3A4-79D1-83CC-253D3B379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DE5C55-4048-A4B0-20D0-8273F1738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00C4F-2766-4FD1-8E55-71B308091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804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0F43F-93E5-36E8-407F-EB0E0A148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FC9F9F-8EB1-2D20-8653-BB56CCFE5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4316B-64AA-40B5-9952-441143FFA226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8A221A-D93B-0A0A-6E83-98B67B346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DEFDF0-BFA3-68D1-8133-E113ED1CC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00C4F-2766-4FD1-8E55-71B308091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472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65CCA9-1278-24F7-5F33-1AAD2D7B1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4316B-64AA-40B5-9952-441143FFA226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733EF5-5EBF-D29D-811C-9A5AC0156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16BF6F-7576-654F-1F42-6ED81F3D2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00C4F-2766-4FD1-8E55-71B308091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392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2C6A6-47A8-0CEA-5DE0-AB7F36362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3F0AF-35C1-4F56-9572-45B516DFEE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E54864-EC1D-451B-8CFE-842C6416E1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9BC420-5D20-BBBB-85C2-A827178C5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4316B-64AA-40B5-9952-441143FFA226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BFED44-5740-575F-D18F-71E0EE0D0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2C285A-6B8D-0CDF-BFA2-9F867DE84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00C4F-2766-4FD1-8E55-71B308091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621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0B108-1466-4257-2BB2-622B83E9E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8B87B4-9BB2-F671-610C-3DCE0EBFDB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85F165-E8A9-2B7E-88B6-796CDEE226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D939D4-6846-F169-6500-6F1B0AD00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4316B-64AA-40B5-9952-441143FFA226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A071D3-5EF4-90E6-BABE-1205AF350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B55E33-7F3D-DFAF-F714-EA936CF88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00C4F-2766-4FD1-8E55-71B308091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169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BDD0F-4AEC-7B37-1CB2-6346D1FBB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6ABFFB-4C4F-299E-6DDE-A33DF4B823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402B6B-7B99-1EF8-377E-EF2EB181F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4316B-64AA-40B5-9952-441143FFA226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49BF91-10FC-40C3-88FB-17D019F4B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56B0A7-51F1-A442-0D19-2DEBBE913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00C4F-2766-4FD1-8E55-71B308091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014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D94B22-B6CB-FF09-3801-9BF7ED239A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F26FF3-B76E-5BB9-885E-9619EC2AA1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C23F20-0BAB-9B28-C30E-C0E3CADD4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4316B-64AA-40B5-9952-441143FFA226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69032-2378-7F20-3C87-3DA34D427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F1516B-684D-E14C-C16E-6FF40993D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00C4F-2766-4FD1-8E55-71B308091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631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D73086-8932-D7A3-D98B-836D449B7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13E0C2-88AC-BABF-8F34-45D71BDA67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55E25-7B22-5A8F-9FAE-9E396BB89E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84316B-64AA-40B5-9952-441143FFA226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4229E-3231-E1DB-DDD3-C5BB891FD2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14D990-3FBE-EC88-F297-78DFCAEE6F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100C4F-2766-4FD1-8E55-71B308091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436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A53F4-613B-389F-B9EE-5770623010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Towards V.W.A. of Affective Noise in SET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385950-81DC-4B17-C6DA-D1E8708B8A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 interpretable ABSA framework that adjusts SET ratings by down-weighting construct-irrelevant emotion. </a:t>
            </a:r>
          </a:p>
          <a:p>
            <a:r>
              <a:rPr lang="en-US" dirty="0"/>
              <a:t>17,121 </a:t>
            </a:r>
            <a:r>
              <a:rPr lang="en-US" dirty="0" err="1"/>
              <a:t>RateMyProfessors</a:t>
            </a:r>
            <a:r>
              <a:rPr lang="en-US" dirty="0"/>
              <a:t> Reviews</a:t>
            </a:r>
          </a:p>
        </p:txBody>
      </p:sp>
    </p:spTree>
    <p:extLst>
      <p:ext uri="{BB962C8B-B14F-4D97-AF65-F5344CB8AC3E}">
        <p14:creationId xmlns:p14="http://schemas.microsoft.com/office/powerpoint/2010/main" val="2079677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8F5D8A-628A-0D0A-717B-1457559A61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22916" y="643466"/>
            <a:ext cx="8346168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646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47615-2C05-8C10-6FFF-48305C738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23CC9-7D54-8E1F-0215-567C19BA63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8D572E-0788-BEA6-C515-823643A887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1387" y="1585351"/>
            <a:ext cx="9144000" cy="2784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075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62515-B95F-B4AF-6887-5872E5ADC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6A415-A37A-EC19-6C83-76047ED44A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39C0D5-6731-49AE-BAF7-70C753522E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1440" y="1519299"/>
            <a:ext cx="9144000" cy="3432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152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99204-E5F0-7109-2C42-D2504B8A0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4BCAF-3437-4732-91B7-F5C8C49F28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3B5207-165D-2714-2EA1-2BFF84CED7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5627" y="1690688"/>
            <a:ext cx="9144000" cy="3422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7941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98E33-970A-58D3-9A9D-CC0BBA389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3522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What are we actually measuring?</a:t>
            </a:r>
          </a:p>
        </p:txBody>
      </p:sp>
    </p:spTree>
    <p:extLst>
      <p:ext uri="{BB962C8B-B14F-4D97-AF65-F5344CB8AC3E}">
        <p14:creationId xmlns:p14="http://schemas.microsoft.com/office/powerpoint/2010/main" val="2774551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37F5B-58A0-B190-7559-3B78D0896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3F1969-F869-DDD2-B218-A8D0AC5835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Scores averaged across an ill-defined assortment of items offer no basis for knowing what is being measured.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kern="0" spc="54" dirty="0">
                <a:solidFill>
                  <a:srgbClr val="4A54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Marsh &amp; Roche — American Psychologist, 1997 · p. 1187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EEC3CE-B47C-81B1-7975-C1EC271A04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0640" y="1639619"/>
            <a:ext cx="3134360" cy="9544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4B8C40B-E1B5-6B24-48F8-1A241F8B38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6040" y="2671850"/>
            <a:ext cx="3083560" cy="11575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5C24DD8-81CE-A971-27D3-ED1AA6A0AE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0640" y="3907157"/>
            <a:ext cx="3134360" cy="1173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881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B333C-A31F-2E0C-4504-19C2BF726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22B93-B536-C0FF-9882-F919928838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Wongsurawat</a:t>
            </a:r>
            <a:r>
              <a:rPr lang="en-US" dirty="0"/>
              <a:t> (2011) — "white noise": pedagogically irrelevant content is a source of measurement error; low-correlation comments should be discounted</a:t>
            </a:r>
          </a:p>
        </p:txBody>
      </p:sp>
    </p:spTree>
    <p:extLst>
      <p:ext uri="{BB962C8B-B14F-4D97-AF65-F5344CB8AC3E}">
        <p14:creationId xmlns:p14="http://schemas.microsoft.com/office/powerpoint/2010/main" val="1108044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FB28B-4260-A602-557C-9F9C0282E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692AB-26D6-636C-6210-2CF44E9CD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Schiekirka</a:t>
            </a:r>
            <a:r>
              <a:rPr lang="en-US" dirty="0"/>
              <a:t> &amp; Raupach (2015) — student characteristics, performance level and evaluation process act as confounders on ratings</a:t>
            </a:r>
          </a:p>
        </p:txBody>
      </p:sp>
    </p:spTree>
    <p:extLst>
      <p:ext uri="{BB962C8B-B14F-4D97-AF65-F5344CB8AC3E}">
        <p14:creationId xmlns:p14="http://schemas.microsoft.com/office/powerpoint/2010/main" val="26806193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0BF84-1F3D-0D0C-5E55-9D2807AD4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31EDB2-1AE4-04BD-E314-E2A72CBCBD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 et al. (2025) — emotional interaction with the instructor leads students to overlook actual teaching quality</a:t>
            </a:r>
          </a:p>
        </p:txBody>
      </p:sp>
    </p:spTree>
    <p:extLst>
      <p:ext uri="{BB962C8B-B14F-4D97-AF65-F5344CB8AC3E}">
        <p14:creationId xmlns:p14="http://schemas.microsoft.com/office/powerpoint/2010/main" val="9580548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369BD-4F3A-20FA-FE7C-89794AC5B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B6C2D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Three literatures, one finding</a:t>
            </a:r>
            <a:br>
              <a:rPr lang="en-US" dirty="0">
                <a:solidFill>
                  <a:srgbClr val="B6C2D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7784A-5E0F-1FC7-F25D-702D5D1526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B6C2D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Ratings respond to what isn't teaching.</a:t>
            </a:r>
          </a:p>
          <a:p>
            <a:pPr marL="0" indent="0">
              <a:buNone/>
            </a:pPr>
            <a:r>
              <a:rPr lang="en-US" dirty="0">
                <a:solidFill>
                  <a:srgbClr val="B6C2D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Systematic, not random.</a:t>
            </a:r>
          </a:p>
          <a:p>
            <a:pPr marL="0" indent="0">
              <a:buNone/>
            </a:pPr>
            <a:endParaRPr lang="en-US" dirty="0">
              <a:solidFill>
                <a:srgbClr val="B6C2D4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248354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7EEE6-FEBD-24F9-E9AC-C35FC3914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Solutions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5C0EBB5-646C-91F8-0675-24B695F386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7418382"/>
              </p:ext>
            </p:extLst>
          </p:nvPr>
        </p:nvGraphicFramePr>
        <p:xfrm>
          <a:off x="838200" y="1825625"/>
          <a:ext cx="10515597" cy="283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794800630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43378885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9746920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Constrain the Instrument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Discard bad reviews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Down-weight by content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15696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Narrow, targeted items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Filter “low quality” comments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Keep every review, but reduce the influence of irrelevant content.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3083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Removes noise by 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Removes noise by exclusion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Attenuates noise, while aiming to preserve signal.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05301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Cost: Loses the expressiveness that makes open ended feedback worth collecting; can’t be applied to existing data.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Cost: Discards signal along with noise. Who decides  what’s “bad”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Bounded, auditable, contextual to each review.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99734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59844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60EAB-CEAF-E449-7014-F10B116AE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Down-weighting is the principled choice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1BDF59-E640-0FD3-8186-450ABB8EB5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Cronbach (1951) — Reduce error variance, don't remove observations.</a:t>
            </a:r>
          </a:p>
          <a:p>
            <a:pPr marL="0" indent="0">
              <a:buNone/>
            </a:pPr>
            <a:r>
              <a:rPr lang="en-US" dirty="0"/>
              <a:t>Huber (1964) — Down-weighting over deletion for stability</a:t>
            </a:r>
          </a:p>
          <a:p>
            <a:pPr marL="0" indent="0">
              <a:buNone/>
            </a:pPr>
            <a:r>
              <a:rPr lang="en-US" dirty="0"/>
              <a:t>Marsh &amp; Roche (1997) — don't throw the validity baby out.</a:t>
            </a:r>
          </a:p>
        </p:txBody>
      </p:sp>
    </p:spTree>
    <p:extLst>
      <p:ext uri="{BB962C8B-B14F-4D97-AF65-F5344CB8AC3E}">
        <p14:creationId xmlns:p14="http://schemas.microsoft.com/office/powerpoint/2010/main" val="33754533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90041-7A54-1A25-B816-877FC16E7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corpus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AEA7E-D466-3717-A99B-8480043320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04000" cy="4351338"/>
          </a:xfrm>
        </p:spPr>
        <p:txBody>
          <a:bodyPr>
            <a:normAutofit/>
          </a:bodyPr>
          <a:lstStyle/>
          <a:p>
            <a:r>
              <a:rPr lang="en-US" dirty="0"/>
              <a:t>17,121 reviews · 1,029 professors</a:t>
            </a:r>
          </a:p>
          <a:p>
            <a:r>
              <a:rPr lang="en-US" dirty="0"/>
              <a:t>40.1 words on average — short, informal</a:t>
            </a:r>
          </a:p>
          <a:p>
            <a:r>
              <a:rPr lang="en-US" dirty="0"/>
              <a:t>Heavily skewed toward 5 stars</a:t>
            </a:r>
          </a:p>
          <a:p>
            <a:r>
              <a:rPr lang="en-US" dirty="0"/>
              <a:t>Open dataset (He, 2020) — no scraping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F21547-EDFE-55D9-1105-16F5FC8388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7404" y="821266"/>
            <a:ext cx="4346223" cy="26077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8C1CC3C-E355-B790-01FA-1BAE3BF51E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7022" y="3885141"/>
            <a:ext cx="4327563" cy="2291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0916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A5CF2-0F44-FA0C-054C-E936D8536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956931-B0F0-2F94-7D92-73E2D6E4C3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RQ1 — Does pedagogical emotion drive ratings?</a:t>
            </a:r>
          </a:p>
          <a:p>
            <a:r>
              <a:rPr lang="en-US" dirty="0"/>
              <a:t>RQ2 — Does off-topic emotion drive ratings?</a:t>
            </a:r>
          </a:p>
          <a:p>
            <a:r>
              <a:rPr lang="en-US" dirty="0"/>
              <a:t>RQ3 — Can we attenuate the noise and keep the signal?</a:t>
            </a:r>
          </a:p>
        </p:txBody>
      </p:sp>
    </p:spTree>
    <p:extLst>
      <p:ext uri="{BB962C8B-B14F-4D97-AF65-F5344CB8AC3E}">
        <p14:creationId xmlns:p14="http://schemas.microsoft.com/office/powerpoint/2010/main" val="13073064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1C31A-CF01-80A5-98B1-447B76BB4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7B4CB-9C3F-477E-53C0-1889AFF0A0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F93936-C267-633E-764B-8A51D69473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6599" y="1312799"/>
            <a:ext cx="7906853" cy="3839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7085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000B0-AAAB-3A54-BB7B-9EC84F217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A1752-F74B-B408-C3AD-F65B7AA518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D6B9C6-2868-8C1F-F72C-A8130A0EFB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4809" y="904522"/>
            <a:ext cx="9002381" cy="5048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2611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9745F-5187-F735-9E1E-378D121A7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80DC3A-94C4-6BBD-4C3F-EB55BF2608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BFFA94-28A1-C1D6-B6B8-64565F47D2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3126" y="1185549"/>
            <a:ext cx="7325747" cy="448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7151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CF800-705A-3596-4C9B-DCDFA909C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517A3-13F5-7C42-9A27-8302F312D1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27E30A-6242-7175-430B-9F2CB513C5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0625" y="728285"/>
            <a:ext cx="8230749" cy="540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4057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42DA2-5417-D1D8-909E-6538B6552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0EFF7-B141-E6EC-8201-7127E1AF0B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112078-57B8-A9B4-8A90-2770200C1E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255" y="681037"/>
            <a:ext cx="11031489" cy="5058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9543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0738D-DEE4-923D-C8E8-6E472E664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7115D-FFA1-745F-AB1B-9E00C41A5C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7E41D6-95EC-3F84-A2B4-B14213FFBC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78426"/>
            <a:ext cx="12192000" cy="5301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2118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CC334-7931-8534-978B-CE10331A7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 Greater Detail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322ED3-89B7-64EA-18CA-CC8F6A59E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ATC (Aspect-Term Categorization)</a:t>
            </a:r>
          </a:p>
          <a:p>
            <a:r>
              <a:rPr lang="en-CA" dirty="0"/>
              <a:t>Sentiment Extraction</a:t>
            </a:r>
          </a:p>
          <a:p>
            <a:r>
              <a:rPr lang="en-CA" dirty="0" err="1"/>
              <a:t>CatBoost</a:t>
            </a:r>
            <a:r>
              <a:rPr lang="en-CA" dirty="0"/>
              <a:t> Modeling</a:t>
            </a:r>
          </a:p>
          <a:p>
            <a:r>
              <a:rPr lang="en-CA" dirty="0"/>
              <a:t>Validity-weighted Attenuation and Rating Adjustment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8307985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70A37-02BB-45D6-7471-3EFDB117C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ATC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684D3-A236-D231-CC9B-61736453DA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Embed clauses and category descriptions (all-mpnet-base-v2)</a:t>
            </a:r>
          </a:p>
          <a:p>
            <a:r>
              <a:rPr lang="en-CA" dirty="0"/>
              <a:t>Cosine similarity picks the closest category</a:t>
            </a:r>
          </a:p>
          <a:p>
            <a:r>
              <a:rPr lang="en-CA" dirty="0"/>
              <a:t>Below 0.25 → Miscellaneous</a:t>
            </a:r>
          </a:p>
          <a:p>
            <a:r>
              <a:rPr lang="en-US" dirty="0"/>
              <a:t>Misc · Instructional Effectiveness · Workload · Fairness</a:t>
            </a:r>
          </a:p>
        </p:txBody>
      </p:sp>
    </p:spTree>
    <p:extLst>
      <p:ext uri="{BB962C8B-B14F-4D97-AF65-F5344CB8AC3E}">
        <p14:creationId xmlns:p14="http://schemas.microsoft.com/office/powerpoint/2010/main" val="36351613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C048F-26F7-A301-CD03-53196E41E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i="1" dirty="0"/>
              <a:t>Miscellaneous</a:t>
            </a:r>
            <a:r>
              <a:rPr lang="en-CA" dirty="0"/>
              <a:t> Density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09241-7F95-C910-1FCA-D4DF4EBB65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The share of a review aimed at Miscellaneous</a:t>
            </a:r>
          </a:p>
          <a:p>
            <a:r>
              <a:rPr lang="en-CA" dirty="0"/>
              <a:t>1.0 → fully off-topic</a:t>
            </a:r>
          </a:p>
          <a:p>
            <a:r>
              <a:rPr lang="en-CA" dirty="0" err="1"/>
              <a:t>0 → fully on-topic</a:t>
            </a:r>
          </a:p>
        </p:txBody>
      </p:sp>
    </p:spTree>
    <p:extLst>
      <p:ext uri="{BB962C8B-B14F-4D97-AF65-F5344CB8AC3E}">
        <p14:creationId xmlns:p14="http://schemas.microsoft.com/office/powerpoint/2010/main" val="40614468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C2C50-E5DC-4956-8523-615BE1991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F5FF54B-FB58-7353-46A1-CF8DF705AD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374" y="1189507"/>
            <a:ext cx="10515600" cy="416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9848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6F460-039D-2F7A-7F69-C00769DFB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Sentiment Extraction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51A218-00D6-B14E-4C5C-BAD0800C5A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Each clause → roberta-base-go_emotions</a:t>
            </a:r>
            <a:endParaRPr lang="en-CA" i="1" dirty="0"/>
          </a:p>
          <a:p>
            <a:r>
              <a:rPr lang="en-CA" dirty="0"/>
              <a:t>28-dimensional emotion probability vector</a:t>
            </a:r>
          </a:p>
          <a:p>
            <a:r>
              <a:rPr lang="en-CA" dirty="0"/>
              <a:t>INT8 quantized ONNX</a:t>
            </a:r>
          </a:p>
        </p:txBody>
      </p:sp>
    </p:spTree>
    <p:extLst>
      <p:ext uri="{BB962C8B-B14F-4D97-AF65-F5344CB8AC3E}">
        <p14:creationId xmlns:p14="http://schemas.microsoft.com/office/powerpoint/2010/main" val="18135531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5BE56-B6FB-DFAF-4E1A-1A1FC6E20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Feature Aggregation per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49266-B8CA-BD63-668E-5BE4138EF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One vector per review, across all categories</a:t>
            </a:r>
          </a:p>
          <a:p>
            <a:r>
              <a:rPr lang="en-CA" dirty="0"/>
              <a:t>Average emotions within each category</a:t>
            </a:r>
          </a:p>
          <a:p>
            <a:r>
              <a:rPr lang="en-CA" dirty="0"/>
              <a:t>Impute 0 where a category is absent</a:t>
            </a:r>
          </a:p>
        </p:txBody>
      </p:sp>
    </p:spTree>
    <p:extLst>
      <p:ext uri="{BB962C8B-B14F-4D97-AF65-F5344CB8AC3E}">
        <p14:creationId xmlns:p14="http://schemas.microsoft.com/office/powerpoint/2010/main" val="40445207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67A2D-DF4E-8BE0-9812-5F0DDA089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Feature Aggregation 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75E57F-C332-40DD-9A4E-8D974F367A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Final feature vector per review = 27 x 4 + (</a:t>
            </a:r>
            <a:r>
              <a:rPr lang="en-CA" dirty="0" err="1"/>
              <a:t>D_misc</a:t>
            </a:r>
            <a:r>
              <a:rPr lang="en-CA" dirty="0"/>
              <a:t>, </a:t>
            </a:r>
            <a:r>
              <a:rPr lang="en-CA" dirty="0" err="1"/>
              <a:t>D_eff</a:t>
            </a:r>
            <a:r>
              <a:rPr lang="en-CA" dirty="0"/>
              <a:t>, </a:t>
            </a:r>
            <a:r>
              <a:rPr lang="en-CA" dirty="0" err="1"/>
              <a:t>D_work</a:t>
            </a:r>
            <a:r>
              <a:rPr lang="en-CA" dirty="0"/>
              <a:t>, </a:t>
            </a:r>
            <a:r>
              <a:rPr lang="en-CA" dirty="0" err="1"/>
              <a:t>D_fair</a:t>
            </a:r>
            <a:r>
              <a:rPr lang="en-CA" dirty="0"/>
              <a:t>) = 112 features</a:t>
            </a:r>
          </a:p>
          <a:p>
            <a:endParaRPr lang="en-CA" dirty="0"/>
          </a:p>
          <a:p>
            <a:r>
              <a:rPr lang="en-CA" dirty="0" err="1"/>
              <a:t>D_misc</a:t>
            </a:r>
            <a:r>
              <a:rPr lang="en-CA" dirty="0"/>
              <a:t> = </a:t>
            </a:r>
            <a:r>
              <a:rPr lang="en-CA" i="1" dirty="0"/>
              <a:t>Miscellaneous density</a:t>
            </a:r>
          </a:p>
          <a:p>
            <a:r>
              <a:rPr lang="en-CA" dirty="0" err="1"/>
              <a:t>D_eff</a:t>
            </a:r>
            <a:r>
              <a:rPr lang="en-CA" dirty="0"/>
              <a:t> = </a:t>
            </a:r>
            <a:r>
              <a:rPr lang="en-CA" i="1" dirty="0" err="1"/>
              <a:t>Intructional</a:t>
            </a:r>
            <a:r>
              <a:rPr lang="en-CA" i="1" dirty="0"/>
              <a:t> Effectiveness density</a:t>
            </a:r>
          </a:p>
          <a:p>
            <a:r>
              <a:rPr lang="en-CA" dirty="0"/>
              <a:t>etc. </a:t>
            </a:r>
          </a:p>
        </p:txBody>
      </p:sp>
    </p:spTree>
    <p:extLst>
      <p:ext uri="{BB962C8B-B14F-4D97-AF65-F5344CB8AC3E}">
        <p14:creationId xmlns:p14="http://schemas.microsoft.com/office/powerpoint/2010/main" val="12763759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A3B9F-328D-83A3-FA61-BAC394916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CatBoost</a:t>
            </a:r>
            <a:r>
              <a:rPr lang="en-CA" dirty="0"/>
              <a:t> Modeling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B7E54B-A473-5D70-47DC-7FAAF48CF6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Gradient-boosted trees</a:t>
            </a:r>
          </a:p>
          <a:p>
            <a:r>
              <a:rPr lang="en-CA" dirty="0"/>
              <a:t>Strong on sparse, non-linear data</a:t>
            </a:r>
          </a:p>
          <a:p>
            <a:r>
              <a:rPr lang="en-CA" dirty="0"/>
              <a:t>Professor-level grouped split · 5-fold CV</a:t>
            </a:r>
          </a:p>
          <a:p>
            <a:r>
              <a:rPr lang="en-CA" dirty="0"/>
              <a:t>Model and baseline predictions saved</a:t>
            </a:r>
          </a:p>
        </p:txBody>
      </p:sp>
    </p:spTree>
    <p:extLst>
      <p:ext uri="{BB962C8B-B14F-4D97-AF65-F5344CB8AC3E}">
        <p14:creationId xmlns:p14="http://schemas.microsoft.com/office/powerpoint/2010/main" val="36295802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C6B34-DF01-F03F-30F0-1D5122D48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non-</a:t>
            </a:r>
            <a:r>
              <a:rPr lang="en-US" dirty="0" err="1"/>
              <a:t>CatBoost</a:t>
            </a:r>
            <a:r>
              <a:rPr lang="en-US" dirty="0"/>
              <a:t> Options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DE291D71-C6FC-9205-D821-67E4CDA2677D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702389374"/>
                  </p:ext>
                </p:extLst>
              </p:nvPr>
            </p:nvGraphicFramePr>
            <p:xfrm>
              <a:off x="838200" y="1574800"/>
              <a:ext cx="1051560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28900">
                      <a:extLst>
                        <a:ext uri="{9D8B030D-6E8A-4147-A177-3AD203B41FA5}">
                          <a16:colId xmlns:a16="http://schemas.microsoft.com/office/drawing/2014/main" val="717176848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818936578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2649003719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401169395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Model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MAE ↓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Spearman </a:t>
                          </a:r>
                          <a:r>
                            <a:rPr lang="el-GR" dirty="0"/>
                            <a:t>ρ ↑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dirty="0"/>
                            <a:t>↑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4717103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Ordinal Regression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0.9509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0.5414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0.0794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011254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Linear Regression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0.7940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0.6875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0.5266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187781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Random Forest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0.6938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0.7289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0.6217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742931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XGBoost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0.6710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0.7329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0.5638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1092165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DE291D71-C6FC-9205-D821-67E4CDA2677D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702389374"/>
                  </p:ext>
                </p:extLst>
              </p:nvPr>
            </p:nvGraphicFramePr>
            <p:xfrm>
              <a:off x="838200" y="1574800"/>
              <a:ext cx="1051560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28900">
                      <a:extLst>
                        <a:ext uri="{9D8B030D-6E8A-4147-A177-3AD203B41FA5}">
                          <a16:colId xmlns:a16="http://schemas.microsoft.com/office/drawing/2014/main" val="717176848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818936578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2649003719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401169395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Model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MAE ↓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Spearman </a:t>
                          </a:r>
                          <a:r>
                            <a:rPr lang="el-GR" dirty="0"/>
                            <a:t>ρ ↑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696" t="-6557" r="-928" b="-4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4717103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Ordinal Regression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0.9509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0.5414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0.0794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011254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Linear Regression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0.7940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0.6875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0.5266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187781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Random Forest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0.6938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0.7289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0.6217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742931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XGBoost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0.6710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0.7329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0.5638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1092165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2CAFDF6-14AD-E4DE-4C5E-C76630FCCC7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35813262"/>
                  </p:ext>
                </p:extLst>
              </p:nvPr>
            </p:nvGraphicFramePr>
            <p:xfrm>
              <a:off x="838199" y="4614044"/>
              <a:ext cx="5257800" cy="10109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43073">
                      <a:extLst>
                        <a:ext uri="{9D8B030D-6E8A-4147-A177-3AD203B41FA5}">
                          <a16:colId xmlns:a16="http://schemas.microsoft.com/office/drawing/2014/main" val="3267476172"/>
                        </a:ext>
                      </a:extLst>
                    </a:gridCol>
                    <a:gridCol w="1063529">
                      <a:extLst>
                        <a:ext uri="{9D8B030D-6E8A-4147-A177-3AD203B41FA5}">
                          <a16:colId xmlns:a16="http://schemas.microsoft.com/office/drawing/2014/main" val="3961715126"/>
                        </a:ext>
                      </a:extLst>
                    </a:gridCol>
                    <a:gridCol w="1955506">
                      <a:extLst>
                        <a:ext uri="{9D8B030D-6E8A-4147-A177-3AD203B41FA5}">
                          <a16:colId xmlns:a16="http://schemas.microsoft.com/office/drawing/2014/main" val="3069447211"/>
                        </a:ext>
                      </a:extLst>
                    </a:gridCol>
                    <a:gridCol w="1095692">
                      <a:extLst>
                        <a:ext uri="{9D8B030D-6E8A-4147-A177-3AD203B41FA5}">
                          <a16:colId xmlns:a16="http://schemas.microsoft.com/office/drawing/2014/main" val="367661539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Final Choice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MAE ↓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Spearman </a:t>
                          </a:r>
                          <a:r>
                            <a:rPr lang="el-GR" dirty="0"/>
                            <a:t>ρ ↑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dirty="0"/>
                            <a:t>↑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743844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CatBoost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0.6369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0.7355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0.6140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40799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2CAFDF6-14AD-E4DE-4C5E-C76630FCCC7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35813262"/>
                  </p:ext>
                </p:extLst>
              </p:nvPr>
            </p:nvGraphicFramePr>
            <p:xfrm>
              <a:off x="838199" y="4614044"/>
              <a:ext cx="5257800" cy="10109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43073">
                      <a:extLst>
                        <a:ext uri="{9D8B030D-6E8A-4147-A177-3AD203B41FA5}">
                          <a16:colId xmlns:a16="http://schemas.microsoft.com/office/drawing/2014/main" val="3267476172"/>
                        </a:ext>
                      </a:extLst>
                    </a:gridCol>
                    <a:gridCol w="1063529">
                      <a:extLst>
                        <a:ext uri="{9D8B030D-6E8A-4147-A177-3AD203B41FA5}">
                          <a16:colId xmlns:a16="http://schemas.microsoft.com/office/drawing/2014/main" val="3961715126"/>
                        </a:ext>
                      </a:extLst>
                    </a:gridCol>
                    <a:gridCol w="1955506">
                      <a:extLst>
                        <a:ext uri="{9D8B030D-6E8A-4147-A177-3AD203B41FA5}">
                          <a16:colId xmlns:a16="http://schemas.microsoft.com/office/drawing/2014/main" val="3069447211"/>
                        </a:ext>
                      </a:extLst>
                    </a:gridCol>
                    <a:gridCol w="1095692">
                      <a:extLst>
                        <a:ext uri="{9D8B030D-6E8A-4147-A177-3AD203B41FA5}">
                          <a16:colId xmlns:a16="http://schemas.microsoft.com/office/drawing/2014/main" val="3676615392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Final Choice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MAE ↓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Spearman </a:t>
                          </a:r>
                          <a:r>
                            <a:rPr lang="el-GR" dirty="0"/>
                            <a:t>ρ ↑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80000" t="-3774" r="-2778" b="-726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743844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CatBoost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0.6369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0.7355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0.6140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407990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0873EC30-96D6-8115-04FC-8D1BFC55093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33909128"/>
                  </p:ext>
                </p:extLst>
              </p:nvPr>
            </p:nvGraphicFramePr>
            <p:xfrm>
              <a:off x="6337300" y="3871325"/>
              <a:ext cx="5016501" cy="262155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51058">
                      <a:extLst>
                        <a:ext uri="{9D8B030D-6E8A-4147-A177-3AD203B41FA5}">
                          <a16:colId xmlns:a16="http://schemas.microsoft.com/office/drawing/2014/main" val="617734290"/>
                        </a:ext>
                      </a:extLst>
                    </a:gridCol>
                    <a:gridCol w="1105331">
                      <a:extLst>
                        <a:ext uri="{9D8B030D-6E8A-4147-A177-3AD203B41FA5}">
                          <a16:colId xmlns:a16="http://schemas.microsoft.com/office/drawing/2014/main" val="3063245030"/>
                        </a:ext>
                      </a:extLst>
                    </a:gridCol>
                    <a:gridCol w="2189405">
                      <a:extLst>
                        <a:ext uri="{9D8B030D-6E8A-4147-A177-3AD203B41FA5}">
                          <a16:colId xmlns:a16="http://schemas.microsoft.com/office/drawing/2014/main" val="3666708679"/>
                        </a:ext>
                      </a:extLst>
                    </a:gridCol>
                    <a:gridCol w="970707">
                      <a:extLst>
                        <a:ext uri="{9D8B030D-6E8A-4147-A177-3AD203B41FA5}">
                          <a16:colId xmlns:a16="http://schemas.microsoft.com/office/drawing/2014/main" val="1586683395"/>
                        </a:ext>
                      </a:extLst>
                    </a:gridCol>
                  </a:tblGrid>
                  <a:tr h="59742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Fold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Spearman </a:t>
                          </a:r>
                          <a:r>
                            <a:rPr lang="el-GR" dirty="0"/>
                            <a:t>ρ ↑</a:t>
                          </a:r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dirty="0"/>
                            <a:t>↑</a:t>
                          </a:r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1677078"/>
                      </a:ext>
                    </a:extLst>
                  </a:tr>
                  <a:tr h="330245"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0.6691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0.7102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0.5837</a:t>
                          </a: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3650100903"/>
                      </a:ext>
                    </a:extLst>
                  </a:tr>
                  <a:tr h="330245"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0.6195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0.7424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0.6431</a:t>
                          </a: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1334619601"/>
                      </a:ext>
                    </a:extLst>
                  </a:tr>
                  <a:tr h="330245"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3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0.6052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0.7462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0.6476</a:t>
                          </a: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4267960514"/>
                      </a:ext>
                    </a:extLst>
                  </a:tr>
                  <a:tr h="330245"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4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0.6328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0.7282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0.6262</a:t>
                          </a: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3803601284"/>
                      </a:ext>
                    </a:extLst>
                  </a:tr>
                  <a:tr h="330245"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5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0.6236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0.7241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0.6282</a:t>
                          </a: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2175749019"/>
                      </a:ext>
                    </a:extLst>
                  </a:tr>
                  <a:tr h="330245"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Mean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0.63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0.7302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0.6258</a:t>
                          </a: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162109829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0873EC30-96D6-8115-04FC-8D1BFC55093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33909128"/>
                  </p:ext>
                </p:extLst>
              </p:nvPr>
            </p:nvGraphicFramePr>
            <p:xfrm>
              <a:off x="6337300" y="3871325"/>
              <a:ext cx="5016501" cy="262155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51058">
                      <a:extLst>
                        <a:ext uri="{9D8B030D-6E8A-4147-A177-3AD203B41FA5}">
                          <a16:colId xmlns:a16="http://schemas.microsoft.com/office/drawing/2014/main" val="617734290"/>
                        </a:ext>
                      </a:extLst>
                    </a:gridCol>
                    <a:gridCol w="1105331">
                      <a:extLst>
                        <a:ext uri="{9D8B030D-6E8A-4147-A177-3AD203B41FA5}">
                          <a16:colId xmlns:a16="http://schemas.microsoft.com/office/drawing/2014/main" val="3063245030"/>
                        </a:ext>
                      </a:extLst>
                    </a:gridCol>
                    <a:gridCol w="2189405">
                      <a:extLst>
                        <a:ext uri="{9D8B030D-6E8A-4147-A177-3AD203B41FA5}">
                          <a16:colId xmlns:a16="http://schemas.microsoft.com/office/drawing/2014/main" val="3666708679"/>
                        </a:ext>
                      </a:extLst>
                    </a:gridCol>
                    <a:gridCol w="970707">
                      <a:extLst>
                        <a:ext uri="{9D8B030D-6E8A-4147-A177-3AD203B41FA5}">
                          <a16:colId xmlns:a16="http://schemas.microsoft.com/office/drawing/2014/main" val="1586683395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Fold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Spearman </a:t>
                          </a:r>
                          <a:r>
                            <a:rPr lang="el-GR" dirty="0"/>
                            <a:t>ρ ↑</a:t>
                          </a:r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418868" t="-3810" r="-2516" b="-3228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71677078"/>
                      </a:ext>
                    </a:extLst>
                  </a:tr>
                  <a:tr h="330245"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0.6691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0.7102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0.5837</a:t>
                          </a: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3650100903"/>
                      </a:ext>
                    </a:extLst>
                  </a:tr>
                  <a:tr h="330245"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0.6195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0.7424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0.6431</a:t>
                          </a: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1334619601"/>
                      </a:ext>
                    </a:extLst>
                  </a:tr>
                  <a:tr h="330245"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3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0.6052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0.7462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0.6476</a:t>
                          </a: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4267960514"/>
                      </a:ext>
                    </a:extLst>
                  </a:tr>
                  <a:tr h="330245"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4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0.6328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0.7282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0.6262</a:t>
                          </a: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3803601284"/>
                      </a:ext>
                    </a:extLst>
                  </a:tr>
                  <a:tr h="330245"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5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0.6236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0.7241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0.6282</a:t>
                          </a: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2175749019"/>
                      </a:ext>
                    </a:extLst>
                  </a:tr>
                  <a:tr h="330245"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Mean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0.63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0.7302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0.6258</a:t>
                          </a: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162109829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311636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425B0-0490-863D-FA1D-33B9617B3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Validity-Weighted Attenuation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37B41E-A3C0-2FF2-983A-6309E1EAD5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CA" i="1" dirty="0"/>
                  <a:t>Misc</a:t>
                </a:r>
                <a:r>
                  <a:rPr lang="en-CA" dirty="0"/>
                  <a:t> emotions are down-weighted by</a:t>
                </a:r>
                <a:r>
                  <a:rPr lang="en-CA" i="1" dirty="0">
                    <a:latin typeface="Cambria Math" panose="02040503050406030204" pitchFamily="18" charset="0"/>
                  </a:rPr>
                  <a:t> zeta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nl-NL" i="1" smtClean="0">
                          <a:latin typeface="Cambria Math" panose="02040503050406030204" pitchFamily="18" charset="0"/>
                        </a:rPr>
                        <m:t>𝜁</m:t>
                      </m:r>
                      <m:r>
                        <a:rPr lang="nl-NL" i="1" smtClean="0">
                          <a:latin typeface="Cambria Math" panose="02040503050406030204" pitchFamily="18" charset="0"/>
                        </a:rPr>
                        <m:t>=1−</m:t>
                      </m:r>
                      <m:sSup>
                        <m:sSupPr>
                          <m:ctrlPr>
                            <a:rPr lang="nl-NL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nl-NL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nl-NL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nl-NL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nl-NL" i="1">
                                      <a:latin typeface="Cambria Math" panose="02040503050406030204" pitchFamily="18" charset="0"/>
                                    </a:rPr>
                                    <m:t>𝑚𝑖𝑠𝑐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nl-NL" i="1">
                              <a:latin typeface="Cambria Math" panose="02040503050406030204" pitchFamily="18" charset="0"/>
                            </a:rPr>
                            <m:t>𝑠</m:t>
                          </m:r>
                        </m:sup>
                      </m:sSup>
                    </m:oMath>
                  </m:oMathPara>
                </a14:m>
                <a:endParaRPr lang="en-CA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CA" dirty="0">
                    <a:latin typeface="Cambria Math" panose="02040503050406030204" pitchFamily="18" charset="0"/>
                  </a:rPr>
                  <a:t>S controls the non-linearity of zeta</a:t>
                </a:r>
              </a:p>
              <a:p>
                <a:pPr marL="0" indent="0">
                  <a:buNone/>
                </a:pPr>
                <a:r>
                  <a:rPr lang="en-CA" dirty="0">
                    <a:latin typeface="Cambria Math" panose="02040503050406030204" pitchFamily="18" charset="0"/>
                  </a:rPr>
                  <a:t>As </a:t>
                </a:r>
                <a:r>
                  <a:rPr lang="en-CA" dirty="0" err="1">
                    <a:latin typeface="Cambria Math" panose="02040503050406030204" pitchFamily="18" charset="0"/>
                  </a:rPr>
                  <a:t>D_misc</a:t>
                </a:r>
                <a:r>
                  <a:rPr lang="en-CA" dirty="0">
                    <a:latin typeface="Cambria Math" panose="02040503050406030204" pitchFamily="18" charset="0"/>
                  </a:rPr>
                  <a:t> increases, zeta decreases</a:t>
                </a:r>
              </a:p>
              <a:p>
                <a:pPr marL="0" indent="0">
                  <a:buNone/>
                </a:pPr>
                <a:r>
                  <a:rPr lang="en-CA" i="1" dirty="0" err="1">
                    <a:latin typeface="Cambria Math" panose="02040503050406030204" pitchFamily="18" charset="0"/>
                  </a:rPr>
                  <a:t>Misc</a:t>
                </a:r>
                <a:r>
                  <a:rPr lang="en-CA" dirty="0">
                    <a:latin typeface="Cambria Math" panose="02040503050406030204" pitchFamily="18" charset="0"/>
                  </a:rPr>
                  <a:t> emotions are proportionally down-weighted with respect to </a:t>
                </a:r>
                <a:r>
                  <a:rPr lang="en-CA" dirty="0" err="1">
                    <a:latin typeface="Cambria Math" panose="02040503050406030204" pitchFamily="18" charset="0"/>
                  </a:rPr>
                  <a:t>D_misc</a:t>
                </a:r>
                <a:endParaRPr lang="en-CA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CA" dirty="0">
                    <a:latin typeface="Cambria Math" panose="02040503050406030204" pitchFamily="18" charset="0"/>
                  </a:rPr>
                  <a:t>All other features are preserved.</a:t>
                </a:r>
              </a:p>
              <a:p>
                <a:pPr marL="0" indent="0">
                  <a:buNone/>
                </a:pPr>
                <a:endParaRPr lang="en-CA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CA" b="0" dirty="0"/>
              </a:p>
              <a:p>
                <a:pPr marL="0" indent="0">
                  <a:buNone/>
                </a:pPr>
                <a:endParaRPr lang="en-CA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37B41E-A3C0-2FF2-983A-6309E1EAD5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801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85471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C9347-D35D-8267-C6EF-A6AA84F3E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Validity-Weighted Attenuation 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48612-80D8-00C5-BB5D-CE372029F8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Attenuated vector back into CatBoost → new prediction</a:t>
            </a:r>
          </a:p>
          <a:p>
            <a:r>
              <a:rPr lang="en-CA" dirty="0"/>
              <a:t>Δ = attenuated prediction − baseline prediction</a:t>
            </a:r>
          </a:p>
          <a:p>
            <a:r>
              <a:rPr lang="en-CA" dirty="0"/>
              <a:t>Add Δ to the student's original rating</a:t>
            </a:r>
          </a:p>
          <a:p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838C49-605D-5C75-F0FA-75FF3D4E52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5277" y="4698236"/>
            <a:ext cx="6687483" cy="666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7118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ECF3E-4C7B-0F0E-C162-7F8B3631A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7D2C2-76D4-A493-C093-9C3A5A8D1A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425085-72AF-46BE-E79D-B59E4AC638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90" y="0"/>
            <a:ext cx="98064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5082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D9889-D209-AF01-26F3-2E709E586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675731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72DBE-B6DC-9C52-79C9-4E7E287405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9816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8EE30-583E-377E-6C2D-20FA996D9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A00E8-E0C4-D580-9BE8-2DFCBA7B6D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9051D8-9170-5B72-90E3-900855564B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14776"/>
            <a:ext cx="12192000" cy="5428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404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A9373-BC7D-08AA-56FE-C7B3C255F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2180C6-3FE9-AD5E-4BE7-B657E902FA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C166D2-1185-6262-784A-E48A00C88A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1376"/>
            <a:ext cx="12192000" cy="6175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1676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66AD5-3F16-D968-89B1-B0B62C1BD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26444DB-0537-D3E3-D4D3-9FF95B28A0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-1" y="1027905"/>
            <a:ext cx="12264241" cy="4648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7216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9378B-4FEF-DC10-C975-627B9CAC5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ED9AA-20DD-2EAC-A99F-BDBA9383C0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C6120A-22F4-DCDC-5CA3-4B17E955AE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25926"/>
            <a:ext cx="12192000" cy="5070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0462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FBF44-B97C-DB58-AA02-581778D8E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EDE225-2BD2-B815-16A1-3A5E3F32CD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CC9E4B-53E8-D64A-A102-447F4D0DB7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" y="271462"/>
            <a:ext cx="11868150" cy="6315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3536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1F42E-99B2-9A21-DF5F-27B55C62F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45DBE-D43A-F1F1-60C5-DFCE833867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9EA958-F965-F784-56BE-F185A6EE1A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12157"/>
            <a:ext cx="10208260" cy="6124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85166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B6333-7511-0B76-B2C5-A529D7C8F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647B5C-C3C7-854F-5E45-F9B55E6F5B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A3B4D0-DC45-0975-A741-AECBBF1C65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910" y="365125"/>
            <a:ext cx="10330180" cy="619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7723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DC4F0-DD8E-2D89-F7D4-988E3258B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294B9E-E273-77C4-DFED-C7B0EAA9F7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177EA9-4C60-5181-785F-B0D9F41DC9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443" y="401066"/>
            <a:ext cx="10093113" cy="6055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2591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27216-6BE7-E548-CD02-BBE8D51C3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7750" y="243522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E4AF7-C715-8A31-0384-5592DDD051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0870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E8925-8894-1DC9-62D6-DAB3801A0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9FCF88-19AB-62AE-8A41-26F18D2028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B54D1E-C8E8-C857-6664-0BB445F5FB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0427" y="681037"/>
            <a:ext cx="8871882" cy="5544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87518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F54A5-12DD-0F62-0517-A9833EEEC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23A028-C3EF-3849-8916-0D763F375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AADF47-171D-D8E1-3EFE-21E0854953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3816" y="1027906"/>
            <a:ext cx="76200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11516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133CF-B5B1-A357-5B8F-B1C3E795A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ACD86-528F-279E-3FD1-99A5824A9C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FFFEFE-AAEA-7C96-46CB-EA1993F140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571500"/>
            <a:ext cx="9525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16550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6F28B-91BE-C768-80AF-CF8EF3365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BFDE2C28-801D-AA65-9CB6-FA676C9866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4261978"/>
              </p:ext>
            </p:extLst>
          </p:nvPr>
        </p:nvGraphicFramePr>
        <p:xfrm>
          <a:off x="457201" y="5026769"/>
          <a:ext cx="5575299" cy="15260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8433">
                  <a:extLst>
                    <a:ext uri="{9D8B030D-6E8A-4147-A177-3AD203B41FA5}">
                      <a16:colId xmlns:a16="http://schemas.microsoft.com/office/drawing/2014/main" val="3338513660"/>
                    </a:ext>
                  </a:extLst>
                </a:gridCol>
                <a:gridCol w="1858433">
                  <a:extLst>
                    <a:ext uri="{9D8B030D-6E8A-4147-A177-3AD203B41FA5}">
                      <a16:colId xmlns:a16="http://schemas.microsoft.com/office/drawing/2014/main" val="1734917979"/>
                    </a:ext>
                  </a:extLst>
                </a:gridCol>
                <a:gridCol w="1858433">
                  <a:extLst>
                    <a:ext uri="{9D8B030D-6E8A-4147-A177-3AD203B41FA5}">
                      <a16:colId xmlns:a16="http://schemas.microsoft.com/office/drawing/2014/main" val="770974947"/>
                    </a:ext>
                  </a:extLst>
                </a:gridCol>
              </a:tblGrid>
              <a:tr h="706901">
                <a:tc>
                  <a:txBody>
                    <a:bodyPr/>
                    <a:lstStyle/>
                    <a:p>
                      <a:r>
                        <a:rPr lang="en-US" dirty="0"/>
                        <a:t>∆+  Versus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Pearson r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Spearman 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1123407"/>
                  </a:ext>
                </a:extLst>
              </a:tr>
              <a:tr h="409554">
                <a:tc>
                  <a:txBody>
                    <a:bodyPr/>
                    <a:lstStyle/>
                    <a:p>
                      <a:r>
                        <a:rPr lang="en-US" dirty="0" err="1"/>
                        <a:t>D_misc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0.6956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0.6218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0576052"/>
                  </a:ext>
                </a:extLst>
              </a:tr>
              <a:tr h="409554">
                <a:tc>
                  <a:txBody>
                    <a:bodyPr/>
                    <a:lstStyle/>
                    <a:p>
                      <a:r>
                        <a:rPr lang="en-US" dirty="0"/>
                        <a:t>Neg. </a:t>
                      </a:r>
                      <a:r>
                        <a:rPr lang="en-US" dirty="0" err="1"/>
                        <a:t>E_misc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0.4185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7859559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5F8FC60A-1F18-F647-7233-1250F470AA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3136"/>
            <a:ext cx="12192000" cy="4661647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5BF6DDB-B80B-CD13-CE4B-55B8A725C7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1577817"/>
              </p:ext>
            </p:extLst>
          </p:nvPr>
        </p:nvGraphicFramePr>
        <p:xfrm>
          <a:off x="6381751" y="5026771"/>
          <a:ext cx="5737269" cy="1526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2423">
                  <a:extLst>
                    <a:ext uri="{9D8B030D-6E8A-4147-A177-3AD203B41FA5}">
                      <a16:colId xmlns:a16="http://schemas.microsoft.com/office/drawing/2014/main" val="2825108848"/>
                    </a:ext>
                  </a:extLst>
                </a:gridCol>
                <a:gridCol w="1912423">
                  <a:extLst>
                    <a:ext uri="{9D8B030D-6E8A-4147-A177-3AD203B41FA5}">
                      <a16:colId xmlns:a16="http://schemas.microsoft.com/office/drawing/2014/main" val="832458636"/>
                    </a:ext>
                  </a:extLst>
                </a:gridCol>
                <a:gridCol w="1912423">
                  <a:extLst>
                    <a:ext uri="{9D8B030D-6E8A-4147-A177-3AD203B41FA5}">
                      <a16:colId xmlns:a16="http://schemas.microsoft.com/office/drawing/2014/main" val="1037231994"/>
                    </a:ext>
                  </a:extLst>
                </a:gridCol>
              </a:tblGrid>
              <a:tr h="580176">
                <a:tc>
                  <a:txBody>
                    <a:bodyPr/>
                    <a:lstStyle/>
                    <a:p>
                      <a:r>
                        <a:rPr lang="en-US" dirty="0"/>
                        <a:t>∆− Versus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Pearson r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Spearman ρ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3010076"/>
                  </a:ext>
                </a:extLst>
              </a:tr>
              <a:tr h="442964">
                <a:tc>
                  <a:txBody>
                    <a:bodyPr/>
                    <a:lstStyle/>
                    <a:p>
                      <a:r>
                        <a:rPr lang="en-US" dirty="0" err="1"/>
                        <a:t>D_misc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-0.6966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-0.5607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5816376"/>
                  </a:ext>
                </a:extLst>
              </a:tr>
              <a:tr h="442964">
                <a:tc>
                  <a:txBody>
                    <a:bodyPr/>
                    <a:lstStyle/>
                    <a:p>
                      <a:r>
                        <a:rPr lang="en-US" dirty="0"/>
                        <a:t>Neg. </a:t>
                      </a:r>
                      <a:r>
                        <a:rPr lang="en-US" dirty="0" err="1"/>
                        <a:t>E_misc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-0.2258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-0.1063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89747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855708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50B7B-4BCC-726B-861A-E3E20B4CB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External Expert Validation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40ED9115-42BC-0289-8614-730582355A96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95240090"/>
                  </p:ext>
                </p:extLst>
              </p:nvPr>
            </p:nvGraphicFramePr>
            <p:xfrm>
              <a:off x="882650" y="3521075"/>
              <a:ext cx="10515600" cy="1381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52600">
                      <a:extLst>
                        <a:ext uri="{9D8B030D-6E8A-4147-A177-3AD203B41FA5}">
                          <a16:colId xmlns:a16="http://schemas.microsoft.com/office/drawing/2014/main" val="268031091"/>
                        </a:ext>
                      </a:extLst>
                    </a:gridCol>
                    <a:gridCol w="1752600">
                      <a:extLst>
                        <a:ext uri="{9D8B030D-6E8A-4147-A177-3AD203B41FA5}">
                          <a16:colId xmlns:a16="http://schemas.microsoft.com/office/drawing/2014/main" val="2913806929"/>
                        </a:ext>
                      </a:extLst>
                    </a:gridCol>
                    <a:gridCol w="1752600">
                      <a:extLst>
                        <a:ext uri="{9D8B030D-6E8A-4147-A177-3AD203B41FA5}">
                          <a16:colId xmlns:a16="http://schemas.microsoft.com/office/drawing/2014/main" val="2434846250"/>
                        </a:ext>
                      </a:extLst>
                    </a:gridCol>
                    <a:gridCol w="1752600">
                      <a:extLst>
                        <a:ext uri="{9D8B030D-6E8A-4147-A177-3AD203B41FA5}">
                          <a16:colId xmlns:a16="http://schemas.microsoft.com/office/drawing/2014/main" val="2226343465"/>
                        </a:ext>
                      </a:extLst>
                    </a:gridCol>
                    <a:gridCol w="1752600">
                      <a:extLst>
                        <a:ext uri="{9D8B030D-6E8A-4147-A177-3AD203B41FA5}">
                          <a16:colId xmlns:a16="http://schemas.microsoft.com/office/drawing/2014/main" val="95862843"/>
                        </a:ext>
                      </a:extLst>
                    </a:gridCol>
                    <a:gridCol w="1752600">
                      <a:extLst>
                        <a:ext uri="{9D8B030D-6E8A-4147-A177-3AD203B41FA5}">
                          <a16:colId xmlns:a16="http://schemas.microsoft.com/office/drawing/2014/main" val="264915025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Condition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Number of pairs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Correct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Unsure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Accuracy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Significance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413032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i="0" smtClean="0">
                                            <a:latin typeface="Cambria Math" panose="02040503050406030204" pitchFamily="18" charset="0"/>
                                          </a:rPr>
                                          <m:t>Δ</m:t>
                                        </m:r>
                                      </m:e>
                                      <m:sub>
                                        <m: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i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i="0" smtClean="0">
                                            <a:latin typeface="Cambria Math" panose="02040503050406030204" pitchFamily="18" charset="0"/>
                                          </a:rPr>
                                          <m:t>Δ</m:t>
                                        </m:r>
                                      </m:e>
                                      <m:sub>
                                        <m: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≥0.5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0.889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 &lt; 0.001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733987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i="0" smtClean="0">
                                            <a:latin typeface="Cambria Math" panose="02040503050406030204" pitchFamily="18" charset="0"/>
                                          </a:rPr>
                                          <m:t>Δ</m:t>
                                        </m:r>
                                      </m:e>
                                      <m:sub>
                                        <m: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i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i="0" smtClean="0">
                                            <a:latin typeface="Cambria Math" panose="02040503050406030204" pitchFamily="18" charset="0"/>
                                          </a:rPr>
                                          <m:t>Δ</m:t>
                                        </m:r>
                                      </m:e>
                                      <m:sub>
                                        <m: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≤0.4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0.759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 &lt; 0.005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583268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40ED9115-42BC-0289-8614-730582355A96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95240090"/>
                  </p:ext>
                </p:extLst>
              </p:nvPr>
            </p:nvGraphicFramePr>
            <p:xfrm>
              <a:off x="882650" y="3521075"/>
              <a:ext cx="10515600" cy="1381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52600">
                      <a:extLst>
                        <a:ext uri="{9D8B030D-6E8A-4147-A177-3AD203B41FA5}">
                          <a16:colId xmlns:a16="http://schemas.microsoft.com/office/drawing/2014/main" val="268031091"/>
                        </a:ext>
                      </a:extLst>
                    </a:gridCol>
                    <a:gridCol w="1752600">
                      <a:extLst>
                        <a:ext uri="{9D8B030D-6E8A-4147-A177-3AD203B41FA5}">
                          <a16:colId xmlns:a16="http://schemas.microsoft.com/office/drawing/2014/main" val="2913806929"/>
                        </a:ext>
                      </a:extLst>
                    </a:gridCol>
                    <a:gridCol w="1752600">
                      <a:extLst>
                        <a:ext uri="{9D8B030D-6E8A-4147-A177-3AD203B41FA5}">
                          <a16:colId xmlns:a16="http://schemas.microsoft.com/office/drawing/2014/main" val="2434846250"/>
                        </a:ext>
                      </a:extLst>
                    </a:gridCol>
                    <a:gridCol w="1752600">
                      <a:extLst>
                        <a:ext uri="{9D8B030D-6E8A-4147-A177-3AD203B41FA5}">
                          <a16:colId xmlns:a16="http://schemas.microsoft.com/office/drawing/2014/main" val="2226343465"/>
                        </a:ext>
                      </a:extLst>
                    </a:gridCol>
                    <a:gridCol w="1752600">
                      <a:extLst>
                        <a:ext uri="{9D8B030D-6E8A-4147-A177-3AD203B41FA5}">
                          <a16:colId xmlns:a16="http://schemas.microsoft.com/office/drawing/2014/main" val="95862843"/>
                        </a:ext>
                      </a:extLst>
                    </a:gridCol>
                    <a:gridCol w="1752600">
                      <a:extLst>
                        <a:ext uri="{9D8B030D-6E8A-4147-A177-3AD203B41FA5}">
                          <a16:colId xmlns:a16="http://schemas.microsoft.com/office/drawing/2014/main" val="2649150256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Condition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Number of pairs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Correct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Unsure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Accuracy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Significance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413032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47" t="-180328" r="-500694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0.889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 &lt; 0.001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733987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47" t="-280328" r="-500694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0.759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 &lt; 0.005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5832685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3307E539-09C6-C8DE-2355-AB76C451D360}"/>
              </a:ext>
            </a:extLst>
          </p:cNvPr>
          <p:cNvSpPr txBox="1"/>
          <p:nvPr/>
        </p:nvSpPr>
        <p:spPr>
          <a:xfrm>
            <a:off x="1146175" y="1816100"/>
            <a:ext cx="98996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Pairwise comparison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217802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8813D-7360-A1D3-8BF5-FB808409B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75731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BC721-6DF5-A358-B7D0-9CC5E87D9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66154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D491E-17F1-A612-E50C-AD5489587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 of RQs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A9343-1513-888F-55EC-1BCF293F44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RQ1 — Does pedagogical emotion drive ratings?</a:t>
            </a:r>
          </a:p>
          <a:p>
            <a:r>
              <a:rPr lang="en-US" dirty="0"/>
              <a:t>RQ2 — Does off-topic emotion drive ratings?</a:t>
            </a:r>
          </a:p>
          <a:p>
            <a:r>
              <a:rPr lang="en-US" dirty="0"/>
              <a:t>RQ3 — Can we attenuate the noise and keep the signal?</a:t>
            </a:r>
          </a:p>
        </p:txBody>
      </p:sp>
    </p:spTree>
    <p:extLst>
      <p:ext uri="{BB962C8B-B14F-4D97-AF65-F5344CB8AC3E}">
        <p14:creationId xmlns:p14="http://schemas.microsoft.com/office/powerpoint/2010/main" val="134100642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616AE-F70E-86AA-6F97-58270A884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RQ1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8990E-69CB-321E-8813-E1E1853E2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Pedagogical emotion drives ratings.</a:t>
            </a:r>
          </a:p>
          <a:p>
            <a:r>
              <a:rPr lang="en-US" dirty="0"/>
              <a:t>Instructional Effectiveness dominates.</a:t>
            </a:r>
          </a:p>
        </p:txBody>
      </p:sp>
    </p:spTree>
    <p:extLst>
      <p:ext uri="{BB962C8B-B14F-4D97-AF65-F5344CB8AC3E}">
        <p14:creationId xmlns:p14="http://schemas.microsoft.com/office/powerpoint/2010/main" val="310614817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0B78A-705E-4F94-CD66-C798BAE19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RQ2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EA6F1-3D90-76E7-A5CF-63D00CE877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Off-topic emotion drives ratings too.</a:t>
            </a:r>
          </a:p>
          <a:p>
            <a:r>
              <a:rPr lang="en-US" dirty="0"/>
              <a:t>Misc ranks 2nd as a category — 3rd by individual feature.</a:t>
            </a:r>
          </a:p>
          <a:p>
            <a:r>
              <a:rPr lang="en-US" dirty="0" err="1"/>
              <a:t>And it contaminates the whole scale.</a:t>
            </a:r>
          </a:p>
        </p:txBody>
      </p:sp>
    </p:spTree>
    <p:extLst>
      <p:ext uri="{BB962C8B-B14F-4D97-AF65-F5344CB8AC3E}">
        <p14:creationId xmlns:p14="http://schemas.microsoft.com/office/powerpoint/2010/main" val="167517382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907D6-B3E7-CEC7-4242-B051DA3E7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RQ3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08D9C9-C823-C998-F1C8-3F63D44804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Importance shifts off Misc, onto pedagogy.</a:t>
            </a:r>
          </a:p>
          <a:p>
            <a:r>
              <a:rPr lang="en-US" dirty="0"/>
              <a:t>Correlations separate cleanly.</a:t>
            </a:r>
          </a:p>
          <a:p>
            <a:r>
              <a:rPr lang="en-US" dirty="0"/>
              <a:t>Mean |Δ| = 0.207 — a scalpel, not a hammer.</a:t>
            </a:r>
          </a:p>
        </p:txBody>
      </p:sp>
    </p:spTree>
    <p:extLst>
      <p:ext uri="{BB962C8B-B14F-4D97-AF65-F5344CB8AC3E}">
        <p14:creationId xmlns:p14="http://schemas.microsoft.com/office/powerpoint/2010/main" val="149399104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1E3E5-3821-71FB-8E98-722A63D10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RQ3 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3E292-B0FE-A3D8-6761-6CAB260537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Mechanism implemented in alignment with theory (Messick, Huber, Cronbach).</a:t>
            </a:r>
          </a:p>
          <a:p>
            <a:r>
              <a:rPr lang="en-US" dirty="0"/>
              <a:t>Interpretability as a constraint.</a:t>
            </a:r>
          </a:p>
        </p:txBody>
      </p:sp>
    </p:spTree>
    <p:extLst>
      <p:ext uri="{BB962C8B-B14F-4D97-AF65-F5344CB8AC3E}">
        <p14:creationId xmlns:p14="http://schemas.microsoft.com/office/powerpoint/2010/main" val="276324342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63ED2-D6B5-EB84-3978-ADB0E66A1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F0F41-A3EC-F465-1605-E79DB66399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Trustworthier scores on platforms like RMP</a:t>
            </a:r>
          </a:p>
          <a:p>
            <a:r>
              <a:rPr lang="en-US" dirty="0"/>
              <a:t>A direction for formal SET systems</a:t>
            </a:r>
          </a:p>
          <a:p>
            <a:r>
              <a:rPr lang="en-US" dirty="0"/>
              <a:t>Insight for faculty development</a:t>
            </a:r>
          </a:p>
          <a:p>
            <a:r>
              <a:rPr lang="en-US" dirty="0"/>
              <a:t>Portable to other feedback domains</a:t>
            </a:r>
          </a:p>
        </p:txBody>
      </p:sp>
    </p:spTree>
    <p:extLst>
      <p:ext uri="{BB962C8B-B14F-4D97-AF65-F5344CB8AC3E}">
        <p14:creationId xmlns:p14="http://schemas.microsoft.com/office/powerpoint/2010/main" val="33894742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75992-4BD5-EA2C-3BD0-601F2D5E5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965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51BB7-817F-8803-9908-AF90E76285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41799"/>
            <a:ext cx="10515600" cy="1935163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We don't know if the method works, if the data is clean, or if the math is right, but I can tell you with absolute, 100% certainty exactly how we ruined it!</a:t>
            </a:r>
          </a:p>
        </p:txBody>
      </p:sp>
    </p:spTree>
    <p:extLst>
      <p:ext uri="{BB962C8B-B14F-4D97-AF65-F5344CB8AC3E}">
        <p14:creationId xmlns:p14="http://schemas.microsoft.com/office/powerpoint/2010/main" val="163959749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B46B4-490C-18B7-8953-A65272F3A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BD4CC-4057-3DF0-788F-B4A8DFAE2D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No ground truth for teaching quality</a:t>
            </a:r>
          </a:p>
          <a:p>
            <a:r>
              <a:rPr lang="en-US" dirty="0"/>
              <a:t>One platform, one corpus</a:t>
            </a:r>
          </a:p>
          <a:p>
            <a:r>
              <a:rPr lang="en-US" dirty="0"/>
              <a:t>Preliminary expert validation</a:t>
            </a:r>
          </a:p>
          <a:p>
            <a:r>
              <a:rPr lang="en-US" dirty="0"/>
              <a:t>Expert test measures direction, not magnitude</a:t>
            </a:r>
          </a:p>
          <a:p>
            <a:r>
              <a:rPr lang="en-US" dirty="0"/>
              <a:t>Errors Cascade</a:t>
            </a:r>
          </a:p>
        </p:txBody>
      </p:sp>
    </p:spTree>
    <p:extLst>
      <p:ext uri="{BB962C8B-B14F-4D97-AF65-F5344CB8AC3E}">
        <p14:creationId xmlns:p14="http://schemas.microsoft.com/office/powerpoint/2010/main" val="8050258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4FA01-3425-FF3F-B239-C1128480E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6A054-7106-C952-1DD7-AECDD1B48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ATC is broad and single-label</a:t>
            </a:r>
          </a:p>
          <a:p>
            <a:r>
              <a:rPr lang="en-US" dirty="0" err="1"/>
              <a:t>RoBERTa-GoEmotions</a:t>
            </a:r>
            <a:r>
              <a:rPr lang="en-US" dirty="0"/>
              <a:t> was trained on Reddit</a:t>
            </a:r>
          </a:p>
          <a:p>
            <a:r>
              <a:rPr lang="en-US" dirty="0"/>
              <a:t>Collapse point at </a:t>
            </a:r>
            <a:r>
              <a:rPr lang="en-US" dirty="0" err="1"/>
              <a:t>D_misc</a:t>
            </a:r>
            <a:r>
              <a:rPr lang="en-US" dirty="0"/>
              <a:t> = 1</a:t>
            </a:r>
          </a:p>
          <a:p>
            <a:r>
              <a:rPr lang="en-US" dirty="0"/>
              <a:t> Neutral-but-off-topic is invisible.</a:t>
            </a:r>
          </a:p>
          <a:p>
            <a:r>
              <a:rPr lang="en-US" dirty="0"/>
              <a:t>Just one </a:t>
            </a:r>
            <a:r>
              <a:rPr lang="en-US" dirty="0" err="1"/>
              <a:t>flavour</a:t>
            </a:r>
            <a:r>
              <a:rPr lang="en-US" dirty="0"/>
              <a:t> of noise (off-topic)</a:t>
            </a:r>
          </a:p>
          <a:p>
            <a:r>
              <a:rPr lang="en-US" dirty="0"/>
              <a:t>Efficiency-first choices cap the ceiling.</a:t>
            </a:r>
          </a:p>
        </p:txBody>
      </p:sp>
    </p:spTree>
    <p:extLst>
      <p:ext uri="{BB962C8B-B14F-4D97-AF65-F5344CB8AC3E}">
        <p14:creationId xmlns:p14="http://schemas.microsoft.com/office/powerpoint/2010/main" val="6439086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3A207-755A-283E-7230-B9FD38F32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0750" y="2766218"/>
            <a:ext cx="10515600" cy="1325563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64695-2D86-5DBB-DF06-FDC9AA42D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647689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07E8D-A7B8-AD01-8AB7-5115AF1BE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6414CA-64DE-6CA6-43B5-E51C145258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49575"/>
            <a:ext cx="10515600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Decompose → extract clause emotion → down-weight off-topic proportionally → re-predict → adjust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37611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59258-D740-86C8-7245-8FF9FA696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B49FC-84AB-7DF9-1741-146A13C618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Intervene, don't just detect</a:t>
            </a:r>
          </a:p>
          <a:p>
            <a:r>
              <a:rPr lang="en-US" dirty="0"/>
              <a:t> Psychometric theory made computational</a:t>
            </a:r>
          </a:p>
          <a:p>
            <a:r>
              <a:rPr lang="en-US" dirty="0"/>
              <a:t> Every adjustment is auditable</a:t>
            </a:r>
          </a:p>
        </p:txBody>
      </p:sp>
    </p:spTree>
    <p:extLst>
      <p:ext uri="{BB962C8B-B14F-4D97-AF65-F5344CB8AC3E}">
        <p14:creationId xmlns:p14="http://schemas.microsoft.com/office/powerpoint/2010/main" val="410716015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436E0-58E1-BB4F-F815-1AB169F6F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Contributions 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BFB7F9-992D-A1A1-10E1-EE4311A2E8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78099"/>
            <a:ext cx="10515600" cy="3090863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Proof-of-concept noise reduction, not a validated measure of teaching quality.</a:t>
            </a:r>
          </a:p>
          <a:p>
            <a:pPr marL="0" indent="0" algn="ctr">
              <a:buNone/>
            </a:pPr>
            <a:r>
              <a:rPr lang="en-US" dirty="0"/>
              <a:t>Possibly extendable to formal SET systems.</a:t>
            </a:r>
          </a:p>
        </p:txBody>
      </p:sp>
    </p:spTree>
    <p:extLst>
      <p:ext uri="{BB962C8B-B14F-4D97-AF65-F5344CB8AC3E}">
        <p14:creationId xmlns:p14="http://schemas.microsoft.com/office/powerpoint/2010/main" val="200635605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3075B-E386-12BD-ABC7-C3CE6A8F5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Next?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E971A-5F61-8130-21EB-FD45D2C4AB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Formal SET corpora</a:t>
            </a:r>
          </a:p>
          <a:p>
            <a:r>
              <a:rPr lang="en-US" dirty="0"/>
              <a:t>Alternative stage implementations</a:t>
            </a:r>
          </a:p>
          <a:p>
            <a:r>
              <a:rPr lang="en-US" dirty="0"/>
              <a:t>More robust attenuation methods</a:t>
            </a:r>
          </a:p>
          <a:p>
            <a:r>
              <a:rPr lang="en-US" dirty="0"/>
              <a:t>Multiple experts</a:t>
            </a:r>
          </a:p>
          <a:p>
            <a:r>
              <a:rPr lang="en-US" dirty="0"/>
              <a:t>An external criterion</a:t>
            </a:r>
          </a:p>
          <a:p>
            <a:r>
              <a:rPr lang="en-US" dirty="0"/>
              <a:t>Fairness audits</a:t>
            </a:r>
          </a:p>
        </p:txBody>
      </p:sp>
    </p:spTree>
    <p:extLst>
      <p:ext uri="{BB962C8B-B14F-4D97-AF65-F5344CB8AC3E}">
        <p14:creationId xmlns:p14="http://schemas.microsoft.com/office/powerpoint/2010/main" val="242129501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87CB7-669E-91CF-C051-7DE22C7FC1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9000" y="2917825"/>
            <a:ext cx="10515600" cy="1444625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Validity concerns in informal SET can be addressed computationally </a:t>
            </a:r>
            <a:r>
              <a:rPr lang="en-US" b="1" dirty="0"/>
              <a:t>without</a:t>
            </a:r>
            <a:r>
              <a:rPr lang="en-US" dirty="0"/>
              <a:t> discarding student voice.</a:t>
            </a:r>
          </a:p>
        </p:txBody>
      </p:sp>
    </p:spTree>
    <p:extLst>
      <p:ext uri="{BB962C8B-B14F-4D97-AF65-F5344CB8AC3E}">
        <p14:creationId xmlns:p14="http://schemas.microsoft.com/office/powerpoint/2010/main" val="147114921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5D74C-F3DE-7C53-FAD7-2C11668CB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Acknowledgements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1C1DC-F114-90BC-08CB-20AFE6ECA7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AMMCS Participants and Staff</a:t>
            </a:r>
          </a:p>
          <a:p>
            <a:r>
              <a:rPr lang="en-US" dirty="0"/>
              <a:t>Professor Somayeh Fatahi</a:t>
            </a:r>
          </a:p>
          <a:p>
            <a:r>
              <a:rPr lang="en-US" dirty="0"/>
              <a:t>My father</a:t>
            </a:r>
          </a:p>
          <a:p>
            <a:r>
              <a:rPr lang="en-US" dirty="0"/>
              <a:t>Senior Faculty Experts</a:t>
            </a:r>
          </a:p>
          <a:p>
            <a:r>
              <a:rPr lang="en-US" dirty="0"/>
              <a:t>Laurier REB</a:t>
            </a:r>
          </a:p>
        </p:txBody>
      </p:sp>
    </p:spTree>
    <p:extLst>
      <p:ext uri="{BB962C8B-B14F-4D97-AF65-F5344CB8AC3E}">
        <p14:creationId xmlns:p14="http://schemas.microsoft.com/office/powerpoint/2010/main" val="36798630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490</TotalTime>
  <Words>9768</Words>
  <Application>Microsoft Office PowerPoint</Application>
  <PresentationFormat>Widescreen</PresentationFormat>
  <Paragraphs>1140</Paragraphs>
  <Slides>65</Slides>
  <Notes>65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72" baseType="lpstr">
      <vt:lpstr>Aptos</vt:lpstr>
      <vt:lpstr>Aptos Display</vt:lpstr>
      <vt:lpstr>Aptos Narrow</vt:lpstr>
      <vt:lpstr>Arial</vt:lpstr>
      <vt:lpstr>Cambria Math</vt:lpstr>
      <vt:lpstr>Carlito</vt:lpstr>
      <vt:lpstr>Office Theme</vt:lpstr>
      <vt:lpstr>Towards V.W.A. of Affective Noise in SET</vt:lpstr>
      <vt:lpstr>PowerPoint Presentation</vt:lpstr>
      <vt:lpstr>PowerPoint Presentation</vt:lpstr>
      <vt:lpstr>PowerPoint Presentation</vt:lpstr>
      <vt:lpstr>PowerPoint Presentation</vt:lpstr>
      <vt:lpstr>What are we actually measuring?</vt:lpstr>
      <vt:lpstr>PowerPoint Presentation</vt:lpstr>
      <vt:lpstr>PowerPoint Presentation</vt:lpstr>
      <vt:lpstr>PowerPoint Presentation</vt:lpstr>
      <vt:lpstr>PowerPoint Presentation</vt:lpstr>
      <vt:lpstr>Three literatures, one finding </vt:lpstr>
      <vt:lpstr>Possible Solutions</vt:lpstr>
      <vt:lpstr>Down-weighting is the principled choice</vt:lpstr>
      <vt:lpstr>The corpus</vt:lpstr>
      <vt:lpstr>Research Questions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 Greater Detail</vt:lpstr>
      <vt:lpstr>ATC</vt:lpstr>
      <vt:lpstr>Miscellaneous Density</vt:lpstr>
      <vt:lpstr>PowerPoint Presentation</vt:lpstr>
      <vt:lpstr>Sentiment Extraction</vt:lpstr>
      <vt:lpstr>Feature Aggregation per Review</vt:lpstr>
      <vt:lpstr>Feature Aggregation Cont.</vt:lpstr>
      <vt:lpstr>CatBoost Modeling</vt:lpstr>
      <vt:lpstr>Other non-CatBoost Options</vt:lpstr>
      <vt:lpstr>Validity-Weighted Attenuation</vt:lpstr>
      <vt:lpstr>Validity-Weighted Attenuation Cont.</vt:lpstr>
      <vt:lpstr>PowerPoint Presentation</vt:lpstr>
      <vt:lpstr>Results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Validation</vt:lpstr>
      <vt:lpstr>PowerPoint Presentation</vt:lpstr>
      <vt:lpstr>PowerPoint Presentation</vt:lpstr>
      <vt:lpstr>PowerPoint Presentation</vt:lpstr>
      <vt:lpstr>PowerPoint Presentation</vt:lpstr>
      <vt:lpstr>External Expert Validation</vt:lpstr>
      <vt:lpstr>Discussion</vt:lpstr>
      <vt:lpstr>Reminder of RQs</vt:lpstr>
      <vt:lpstr>RQ1</vt:lpstr>
      <vt:lpstr>RQ2</vt:lpstr>
      <vt:lpstr>RQ3</vt:lpstr>
      <vt:lpstr>RQ3 Cont.</vt:lpstr>
      <vt:lpstr>Practical Implications</vt:lpstr>
      <vt:lpstr>Limitations</vt:lpstr>
      <vt:lpstr>Limitations</vt:lpstr>
      <vt:lpstr>Limitations Cont.</vt:lpstr>
      <vt:lpstr>Conclusion</vt:lpstr>
      <vt:lpstr>PowerPoint Presentation</vt:lpstr>
      <vt:lpstr>Contributions</vt:lpstr>
      <vt:lpstr>Contributions Cont.</vt:lpstr>
      <vt:lpstr>What’s Next?</vt:lpstr>
      <vt:lpstr>PowerPoint Presentation</vt:lpstr>
      <vt:lpstr>Acknowledgements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Bassil Obeidi</dc:creator>
  <cp:lastModifiedBy>Masri O Architects</cp:lastModifiedBy>
  <cp:revision>13</cp:revision>
  <dcterms:created xsi:type="dcterms:W3CDTF">2026-08-11T03:51:58Z</dcterms:created>
  <dcterms:modified xsi:type="dcterms:W3CDTF">2026-08-17T02:30:50Z</dcterms:modified>
</cp:coreProperties>
</file>